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6" r:id="rId4"/>
    <p:sldId id="277" r:id="rId5"/>
    <p:sldId id="275" r:id="rId6"/>
    <p:sldId id="284" r:id="rId7"/>
    <p:sldId id="278" r:id="rId8"/>
    <p:sldId id="282" r:id="rId9"/>
    <p:sldId id="279" r:id="rId10"/>
    <p:sldId id="280" r:id="rId11"/>
    <p:sldId id="285" r:id="rId12"/>
    <p:sldId id="281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C32EF-45E5-4CBE-A62A-E6BE7724F807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60E3C-2AFE-4136-8F45-28B826A78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895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1935-1F7F-4C02-A548-1BB1A9568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0E005-0182-4F14-B268-0E5EFFBBD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DF481-002F-4E95-A91F-86D6F87B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A28A3-E8C7-4B06-A0CE-994FE6036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841C8-3A43-4033-8A3F-78F206A6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7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FA1A9-5FD9-4BC8-B4B6-ECC2CF4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332A2-39BC-4624-86FA-CAD318E25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03628-47C1-48EC-9DA5-70B1B80B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88440-EE09-4769-8BB6-86165725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46C94-BD57-4B20-BB7A-02BC7AA1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538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634F-E3BA-4B35-95E1-2111593B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480-54F0-4C6A-8645-1F472245B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8D0F4-AE67-477B-A3F9-209242BF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70C1-7F5E-451A-8A13-2379B1C4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5D125-FF46-458B-AC30-05E86376D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151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6D1E-F107-4BFA-B53E-DE2C1417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AF522-AB66-49D7-99A0-8FD8C1797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E21CD-E21F-47FF-B534-5171FE3EA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ECE71-3A44-45F5-913C-8CD8CE69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7A336-E9E2-4BC8-ABF8-C296385D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6FC75-A14B-4B63-B10D-34E9D0D0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43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9B28-66A3-4ED2-A502-848A8D49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90F58-7F2B-42C4-B59E-3B6E16E09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034FA-F75A-4FDB-B882-73CE19736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0A5EB-9ACA-4CD4-A047-6000E5935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6E9E2-4C42-406B-9CF7-983BA00E6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F4BC68-6CC4-4CF3-8D12-9727C6EF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DBB09-BF23-4C04-9DF0-894643AE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4A34C-BA5A-43AA-9C07-40F084B1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E4EF-1BD6-4B06-B9CA-B045F735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22EE6-5EDB-4996-B36B-1CA032DF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556CD-0C69-4CEB-8620-888D5C35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5624D-AA8C-4E7D-81F3-CA8EB8C2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63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8068-F57E-4B4B-A229-2C9A6169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821E5-FBA8-451C-8B2D-84CDF202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60B4F-5AFF-4079-A92D-E0C0D011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93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1B5B-C08B-4DE0-BAA7-50AD12DA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0C0A3-D73C-4053-9678-1AE21F994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65442-7340-4307-9762-E2308D750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E763-D649-4AE5-8B7D-E1D3C2DFD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3CC37-D657-4911-9CC4-C1697DAD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A1601-5F32-4AC3-A29F-69B9E295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82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27EA-5042-451D-9148-364E234EA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9C109-3404-40F1-954E-A372C7560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91103-7E41-4C18-B1B9-F717D1F0C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02253-C2FB-49E7-8BF0-DCF409D6A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179B2-7284-46F6-936F-04C6F26C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7029D-A8F6-48E2-9B62-20728AF0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0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2193-4C9E-4403-9B97-D39515CD1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62C97-3586-45B7-8744-710BFC731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E749F-034C-4423-94A4-D7A40520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C0487-6A8E-4D11-B536-1204D54C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2DC90-C43F-4CF5-A013-4C5F69F2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39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13F3C-AEEB-4078-88D0-0FF036AFE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7CA7C-630F-4985-8634-68C08D37D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682AE-A1BE-4D67-994C-327A9867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C9DB-574C-42E2-A2CA-0BE186C5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D6FB3-00CC-4303-8EB2-83DB3D66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5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7403B-FCE5-4B0D-BE9B-24C0FA71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DEB81-F05F-4608-8AA5-4BE93098F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72F39-46DF-4A3F-8620-7236DD39A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7CB3A-6942-450D-BD3C-9AA63B4B74D1}" type="datetimeFigureOut">
              <a:rPr lang="en-IN" smtClean="0"/>
              <a:t>23-07-2021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92B1D-94EA-4737-8110-78CC070FC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FB12-1DC3-423B-A59D-4C84E5DC8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77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9DE7B6-DC7C-4BA1-B406-EDDA0C0A31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-2"/>
            <a:ext cx="753770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B78DD-9E7F-4FCC-80CD-4DD5F5EC2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9620" y="1306071"/>
            <a:ext cx="6287677" cy="2663407"/>
          </a:xfrm>
        </p:spPr>
        <p:txBody>
          <a:bodyPr>
            <a:normAutofit/>
          </a:bodyPr>
          <a:lstStyle/>
          <a:p>
            <a:pPr algn="l"/>
            <a:r>
              <a:rPr lang="en-IN" sz="4600" b="1" dirty="0">
                <a:solidFill>
                  <a:srgbClr val="FFFFFF"/>
                </a:solidFill>
              </a:rPr>
              <a:t>Payroll - </a:t>
            </a:r>
            <a:r>
              <a:rPr lang="en-IN" sz="4600" dirty="0">
                <a:solidFill>
                  <a:srgbClr val="FFFFFF"/>
                </a:solidFill>
              </a:rPr>
              <a:t>Business Flow</a:t>
            </a:r>
            <a:br>
              <a:rPr lang="en-IN" sz="4600" dirty="0">
                <a:solidFill>
                  <a:srgbClr val="FFFFFF"/>
                </a:solidFill>
              </a:rPr>
            </a:br>
            <a:r>
              <a:rPr lang="en-IN" sz="4600" dirty="0">
                <a:solidFill>
                  <a:srgbClr val="FFFFFF"/>
                </a:solidFill>
              </a:rPr>
              <a:t>Understanding Document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165E0-88E9-4AA2-B7C7-AE580BFC8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9620" y="4106004"/>
            <a:ext cx="5478380" cy="1860883"/>
          </a:xfrm>
        </p:spPr>
        <p:txBody>
          <a:bodyPr>
            <a:normAutofit/>
          </a:bodyPr>
          <a:lstStyle/>
          <a:p>
            <a:pPr algn="l"/>
            <a:endParaRPr lang="en-IN" b="1" dirty="0">
              <a:solidFill>
                <a:srgbClr val="FFFFFF"/>
              </a:solidFill>
            </a:endParaRPr>
          </a:p>
          <a:p>
            <a:pPr algn="l"/>
            <a:endParaRPr lang="en-IN" b="1" dirty="0">
              <a:solidFill>
                <a:srgbClr val="FFFFFF"/>
              </a:solidFill>
            </a:endParaRPr>
          </a:p>
          <a:p>
            <a:pPr algn="l"/>
            <a:r>
              <a:rPr lang="en-IN" dirty="0" err="1" smtClean="0">
                <a:solidFill>
                  <a:srgbClr val="FFFFFF"/>
                </a:solidFill>
              </a:rPr>
              <a:t>Indhu</a:t>
            </a:r>
            <a:endParaRPr lang="en-IN" dirty="0">
              <a:solidFill>
                <a:srgbClr val="FFFFFF"/>
              </a:solidFill>
            </a:endParaRPr>
          </a:p>
          <a:p>
            <a:pPr algn="l"/>
            <a:r>
              <a:rPr lang="en-IN" dirty="0" err="1">
                <a:solidFill>
                  <a:srgbClr val="FFFFFF"/>
                </a:solidFill>
              </a:rPr>
              <a:t>Mavensoft</a:t>
            </a:r>
            <a:r>
              <a:rPr lang="en-IN" dirty="0">
                <a:solidFill>
                  <a:srgbClr val="FFFFFF"/>
                </a:solidFill>
              </a:rPr>
              <a:t> Technologies LLC.</a:t>
            </a:r>
          </a:p>
        </p:txBody>
      </p:sp>
      <p:pic>
        <p:nvPicPr>
          <p:cNvPr id="4" name="Picture 2" descr="Mavensoft Systems Private Limited">
            <a:extLst>
              <a:ext uri="{FF2B5EF4-FFF2-40B4-BE49-F238E27FC236}">
                <a16:creationId xmlns:a16="http://schemas.microsoft.com/office/drawing/2014/main" id="{07BF8E81-FE41-4A06-B41D-BE1E3C164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6090" y="2848304"/>
            <a:ext cx="2887681" cy="9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F510E21-D969-47F1-B374-4FC1D7EE4BE3}"/>
              </a:ext>
            </a:extLst>
          </p:cNvPr>
          <p:cNvSpPr txBox="1">
            <a:spLocks/>
          </p:cNvSpPr>
          <p:nvPr/>
        </p:nvSpPr>
        <p:spPr>
          <a:xfrm>
            <a:off x="819806" y="977467"/>
            <a:ext cx="7325711" cy="62956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002060"/>
                </a:solidFill>
                <a:latin typeface="+mn-lt"/>
              </a:rPr>
              <a:t>Transactions                              1.Month End</a:t>
            </a:r>
            <a:endParaRPr lang="en-IN" sz="2400" b="1" dirty="0">
              <a:solidFill>
                <a:srgbClr val="002060"/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002060"/>
                </a:solidFill>
                <a:latin typeface="+mn-lt"/>
              </a:rPr>
              <a:t>Masters                                        2.Year End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002060"/>
                </a:solidFill>
                <a:latin typeface="+mn-lt"/>
              </a:rPr>
              <a:t>Increments</a:t>
            </a:r>
            <a:endParaRPr lang="en-IN" sz="2400" b="1" dirty="0">
              <a:solidFill>
                <a:srgbClr val="002060"/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002060"/>
                </a:solidFill>
                <a:latin typeface="+mn-lt"/>
              </a:rPr>
              <a:t>Loans</a:t>
            </a:r>
            <a:endParaRPr lang="en-IN" sz="2400" b="1" dirty="0">
              <a:solidFill>
                <a:srgbClr val="002060"/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002060"/>
                </a:solidFill>
              </a:rPr>
              <a:t>Payslips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002060"/>
                </a:solidFill>
                <a:latin typeface="+mn-lt"/>
              </a:rPr>
              <a:t>PF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002060"/>
                </a:solidFill>
                <a:latin typeface="+mn-lt"/>
              </a:rPr>
              <a:t>PF Loans</a:t>
            </a:r>
            <a:endParaRPr lang="en-IN" sz="2400" b="1" dirty="0">
              <a:solidFill>
                <a:srgbClr val="002060"/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</a:rPr>
              <a:t>PF </a:t>
            </a:r>
            <a:r>
              <a:rPr lang="en-IN" sz="2400" b="1" dirty="0" smtClean="0">
                <a:solidFill>
                  <a:srgbClr val="002060"/>
                </a:solidFill>
                <a:latin typeface="+mn-lt"/>
              </a:rPr>
              <a:t>Reports</a:t>
            </a:r>
            <a:r>
              <a:rPr lang="en-IN" sz="2200" b="1" dirty="0" smtClean="0">
                <a:solidFill>
                  <a:srgbClr val="002060"/>
                </a:solidFill>
                <a:latin typeface="+mn-lt"/>
              </a:rPr>
              <a:t>   </a:t>
            </a:r>
            <a:r>
              <a:rPr lang="en-IN" sz="2200" b="1" dirty="0">
                <a:solidFill>
                  <a:srgbClr val="002060"/>
                </a:solidFill>
                <a:latin typeface="+mn-lt"/>
              </a:rPr>
              <a:t/>
            </a:r>
            <a:br>
              <a:rPr lang="en-IN" sz="2200" b="1" dirty="0">
                <a:solidFill>
                  <a:srgbClr val="002060"/>
                </a:solidFill>
                <a:latin typeface="+mn-lt"/>
              </a:rPr>
            </a:br>
            <a:r>
              <a:rPr lang="en-IN" sz="2200" b="1" dirty="0">
                <a:solidFill>
                  <a:srgbClr val="002060"/>
                </a:solidFill>
                <a:latin typeface="+mn-lt"/>
              </a:rPr>
              <a:t/>
            </a:r>
            <a:br>
              <a:rPr lang="en-IN" sz="2200" b="1" dirty="0">
                <a:solidFill>
                  <a:srgbClr val="002060"/>
                </a:solidFill>
                <a:latin typeface="+mn-lt"/>
              </a:rPr>
            </a:br>
            <a:r>
              <a:rPr lang="en-IN" sz="2200" b="1" dirty="0">
                <a:solidFill>
                  <a:srgbClr val="002060"/>
                </a:solidFill>
                <a:latin typeface="+mn-lt"/>
              </a:rPr>
              <a:t/>
            </a:r>
            <a:br>
              <a:rPr lang="en-IN" sz="2200" b="1" dirty="0">
                <a:solidFill>
                  <a:srgbClr val="002060"/>
                </a:solidFill>
                <a:latin typeface="+mn-lt"/>
              </a:rPr>
            </a:br>
            <a:r>
              <a:rPr lang="en-IN" sz="2200" b="1" dirty="0">
                <a:solidFill>
                  <a:srgbClr val="002060"/>
                </a:solidFill>
                <a:latin typeface="+mn-lt"/>
              </a:rPr>
              <a:t> </a:t>
            </a:r>
            <a:br>
              <a:rPr lang="en-IN" sz="2200" b="1" dirty="0">
                <a:solidFill>
                  <a:srgbClr val="002060"/>
                </a:solidFill>
                <a:latin typeface="+mn-lt"/>
              </a:rPr>
            </a:br>
            <a:r>
              <a:rPr lang="en-IN" sz="2200" b="1" dirty="0">
                <a:solidFill>
                  <a:srgbClr val="002060"/>
                </a:solidFill>
                <a:latin typeface="+mn-lt"/>
              </a:rPr>
              <a:t/>
            </a:r>
            <a:br>
              <a:rPr lang="en-IN" sz="2200" b="1" dirty="0">
                <a:solidFill>
                  <a:srgbClr val="002060"/>
                </a:solidFill>
                <a:latin typeface="+mn-lt"/>
              </a:rPr>
            </a:br>
            <a:r>
              <a:rPr lang="en-IN" sz="2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IN" sz="1200" dirty="0">
                <a:latin typeface="+mn-lt"/>
              </a:rPr>
              <a:t/>
            </a:r>
            <a:br>
              <a:rPr lang="en-IN" sz="1200" dirty="0">
                <a:latin typeface="+mn-lt"/>
              </a:rPr>
            </a:br>
            <a:endParaRPr lang="en-IN" sz="1200" dirty="0">
              <a:latin typeface="+mn-lt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199697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Index</a:t>
            </a:r>
            <a:r>
              <a:rPr lang="en-US" altLang="zh-CN" sz="4400" b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                    Services: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06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10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Flow: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79BD0F-689D-4FF0-8B04-FDC8E17FAB3F}"/>
              </a:ext>
            </a:extLst>
          </p:cNvPr>
          <p:cNvSpPr/>
          <p:nvPr/>
        </p:nvSpPr>
        <p:spPr>
          <a:xfrm>
            <a:off x="651641" y="693689"/>
            <a:ext cx="2349136" cy="18949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Transactions</a:t>
            </a:r>
            <a:endParaRPr lang="en-IN" sz="24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DAF3B4-5743-45EE-A04F-F0BF86C36D86}"/>
              </a:ext>
            </a:extLst>
          </p:cNvPr>
          <p:cNvSpPr/>
          <p:nvPr/>
        </p:nvSpPr>
        <p:spPr>
          <a:xfrm>
            <a:off x="3950012" y="678597"/>
            <a:ext cx="1814353" cy="2002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dirty="0" smtClean="0"/>
              <a:t>Masters</a:t>
            </a:r>
            <a:endParaRPr lang="en-IN" sz="24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BA6111-6CCC-47A0-AC61-4029653C3A48}"/>
              </a:ext>
            </a:extLst>
          </p:cNvPr>
          <p:cNvSpPr/>
          <p:nvPr/>
        </p:nvSpPr>
        <p:spPr>
          <a:xfrm>
            <a:off x="9092485" y="667412"/>
            <a:ext cx="2125014" cy="2002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 </a:t>
            </a:r>
            <a:r>
              <a:rPr lang="en-IN" sz="2400" b="1" dirty="0" smtClean="0"/>
              <a:t>Loans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5065CD-FBF6-4D21-89C5-0CE30F775BCF}"/>
              </a:ext>
            </a:extLst>
          </p:cNvPr>
          <p:cNvSpPr/>
          <p:nvPr/>
        </p:nvSpPr>
        <p:spPr>
          <a:xfrm>
            <a:off x="9195515" y="3510785"/>
            <a:ext cx="2021984" cy="1991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Payslip</a:t>
            </a:r>
            <a:endParaRPr lang="en-IN" sz="2400" b="1" dirty="0"/>
          </a:p>
          <a:p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089044" y="3531951"/>
            <a:ext cx="1736792" cy="1873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PF</a:t>
            </a:r>
            <a:endParaRPr lang="en-IN" sz="2400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579F238-7F9E-4377-8B48-DE6FA2D882DC}"/>
              </a:ext>
            </a:extLst>
          </p:cNvPr>
          <p:cNvSpPr/>
          <p:nvPr/>
        </p:nvSpPr>
        <p:spPr>
          <a:xfrm>
            <a:off x="651641" y="3432785"/>
            <a:ext cx="2387774" cy="20699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Reports</a:t>
            </a:r>
            <a:endParaRPr lang="en-IN" b="1" dirty="0">
              <a:solidFill>
                <a:srgbClr val="FFFF00"/>
              </a:solidFill>
            </a:endParaRPr>
          </a:p>
          <a:p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4" name="Straight Arrow Connector 3"/>
          <p:cNvCxnSpPr>
            <a:stCxn id="2" idx="3"/>
            <a:endCxn id="8" idx="1"/>
          </p:cNvCxnSpPr>
          <p:nvPr/>
        </p:nvCxnSpPr>
        <p:spPr>
          <a:xfrm>
            <a:off x="3000777" y="1641172"/>
            <a:ext cx="949235" cy="38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8" idx="3"/>
            <a:endCxn id="11" idx="1"/>
          </p:cNvCxnSpPr>
          <p:nvPr/>
        </p:nvCxnSpPr>
        <p:spPr>
          <a:xfrm flipV="1">
            <a:off x="5764365" y="1668520"/>
            <a:ext cx="3328120" cy="11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713668" y="285911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4" idx="1"/>
            <a:endCxn id="14" idx="1"/>
          </p:cNvCxnSpPr>
          <p:nvPr/>
        </p:nvCxnSpPr>
        <p:spPr>
          <a:xfrm>
            <a:off x="4089044" y="4468821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4" idx="1"/>
            <a:endCxn id="17" idx="3"/>
          </p:cNvCxnSpPr>
          <p:nvPr/>
        </p:nvCxnSpPr>
        <p:spPr>
          <a:xfrm flipH="1" flipV="1">
            <a:off x="3039415" y="4467771"/>
            <a:ext cx="1049629" cy="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ight Arrow 63"/>
          <p:cNvSpPr/>
          <p:nvPr/>
        </p:nvSpPr>
        <p:spPr>
          <a:xfrm>
            <a:off x="3000777" y="1579353"/>
            <a:ext cx="909815" cy="211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ight Arrow 65"/>
          <p:cNvSpPr/>
          <p:nvPr/>
        </p:nvSpPr>
        <p:spPr>
          <a:xfrm>
            <a:off x="8182670" y="1598517"/>
            <a:ext cx="909815" cy="211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Down Arrow 66"/>
          <p:cNvSpPr/>
          <p:nvPr/>
        </p:nvSpPr>
        <p:spPr>
          <a:xfrm>
            <a:off x="10206507" y="2760137"/>
            <a:ext cx="270457" cy="7594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ight Arrow 67"/>
          <p:cNvSpPr/>
          <p:nvPr/>
        </p:nvSpPr>
        <p:spPr>
          <a:xfrm rot="10800000">
            <a:off x="8285700" y="4471666"/>
            <a:ext cx="909815" cy="271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ight Arrow 69"/>
          <p:cNvSpPr/>
          <p:nvPr/>
        </p:nvSpPr>
        <p:spPr>
          <a:xfrm rot="10800000">
            <a:off x="3032975" y="4387899"/>
            <a:ext cx="1017432" cy="2236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ounded Rectangle 86"/>
          <p:cNvSpPr/>
          <p:nvPr/>
        </p:nvSpPr>
        <p:spPr>
          <a:xfrm>
            <a:off x="6548909" y="3519604"/>
            <a:ext cx="1736792" cy="18860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PF Loans</a:t>
            </a:r>
            <a:endParaRPr lang="en-IN" b="1" dirty="0"/>
          </a:p>
        </p:txBody>
      </p:sp>
      <p:sp>
        <p:nvSpPr>
          <p:cNvPr id="94" name="Right Arrow 93"/>
          <p:cNvSpPr/>
          <p:nvPr/>
        </p:nvSpPr>
        <p:spPr>
          <a:xfrm rot="10800000">
            <a:off x="5808808" y="4387899"/>
            <a:ext cx="740100" cy="2739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6409096" y="709697"/>
            <a:ext cx="1736792" cy="18860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Increments</a:t>
            </a:r>
            <a:endParaRPr lang="en-IN" b="1" dirty="0"/>
          </a:p>
        </p:txBody>
      </p:sp>
      <p:sp>
        <p:nvSpPr>
          <p:cNvPr id="107" name="Right Arrow 106"/>
          <p:cNvSpPr/>
          <p:nvPr/>
        </p:nvSpPr>
        <p:spPr>
          <a:xfrm flipV="1">
            <a:off x="5788414" y="1598515"/>
            <a:ext cx="620682" cy="192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0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10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Transactions</a:t>
            </a:r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198513" y="2485623"/>
            <a:ext cx="2994629" cy="25628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Transactions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Attendance</a:t>
            </a:r>
          </a:p>
          <a:p>
            <a:pPr algn="ctr"/>
            <a:r>
              <a:rPr lang="en-IN" sz="1600" b="1" dirty="0">
                <a:solidFill>
                  <a:srgbClr val="FFFF00"/>
                </a:solidFill>
              </a:rPr>
              <a:t> Date of leaving </a:t>
            </a:r>
            <a:endParaRPr lang="en-IN" sz="1600" b="1" dirty="0" smtClean="0">
              <a:solidFill>
                <a:srgbClr val="FFFF00"/>
              </a:solidFill>
            </a:endParaRPr>
          </a:p>
          <a:p>
            <a:pPr algn="ctr"/>
            <a:r>
              <a:rPr lang="en-IN" sz="1600" b="1" dirty="0">
                <a:solidFill>
                  <a:srgbClr val="FFFF00"/>
                </a:solidFill>
              </a:rPr>
              <a:t>Loan </a:t>
            </a:r>
            <a:r>
              <a:rPr lang="en-IN" sz="1600" b="1" dirty="0" smtClean="0">
                <a:solidFill>
                  <a:srgbClr val="FFFF00"/>
                </a:solidFill>
              </a:rPr>
              <a:t>Adjustment</a:t>
            </a:r>
          </a:p>
          <a:p>
            <a:pPr algn="ctr"/>
            <a:r>
              <a:rPr lang="en-IN" sz="1600" b="1" dirty="0" err="1" smtClean="0">
                <a:solidFill>
                  <a:srgbClr val="FFFF00"/>
                </a:solidFill>
              </a:rPr>
              <a:t>Adhoc</a:t>
            </a:r>
            <a:r>
              <a:rPr lang="en-IN" sz="1600" b="1" dirty="0" smtClean="0">
                <a:solidFill>
                  <a:srgbClr val="FFFF00"/>
                </a:solidFill>
              </a:rPr>
              <a:t> Payment</a:t>
            </a:r>
          </a:p>
          <a:p>
            <a:pPr algn="ctr"/>
            <a:r>
              <a:rPr lang="en-US" sz="1600" b="1" dirty="0">
                <a:solidFill>
                  <a:srgbClr val="FFFF00"/>
                </a:solidFill>
              </a:rPr>
              <a:t>Deputation </a:t>
            </a: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Allowance </a:t>
            </a:r>
            <a:endParaRPr lang="en-IN" sz="1600" b="1" dirty="0">
              <a:solidFill>
                <a:srgbClr val="FFFF00"/>
              </a:solidFill>
            </a:endParaRPr>
          </a:p>
          <a:p>
            <a:pPr algn="ctr"/>
            <a:r>
              <a:rPr lang="en-IN" sz="1600" b="1" dirty="0">
                <a:solidFill>
                  <a:srgbClr val="FFFF00"/>
                </a:solidFill>
              </a:rPr>
              <a:t> </a:t>
            </a:r>
            <a:endParaRPr lang="en-IN" sz="1600" b="1" dirty="0" smtClean="0">
              <a:solidFill>
                <a:srgbClr val="FFFF00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925059" y="1712890"/>
            <a:ext cx="2292440" cy="13265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Attendance</a:t>
            </a:r>
            <a:endParaRPr lang="en-IN" dirty="0"/>
          </a:p>
        </p:txBody>
      </p:sp>
      <p:cxnSp>
        <p:nvCxnSpPr>
          <p:cNvPr id="24" name="Straight Arrow Connector 23"/>
          <p:cNvCxnSpPr>
            <a:stCxn id="14" idx="3"/>
          </p:cNvCxnSpPr>
          <p:nvPr/>
        </p:nvCxnSpPr>
        <p:spPr>
          <a:xfrm flipV="1">
            <a:off x="7193142" y="2601532"/>
            <a:ext cx="1731917" cy="1165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468192" y="1442434"/>
            <a:ext cx="2150771" cy="14424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Date of Leaving</a:t>
            </a:r>
            <a:endParaRPr lang="en-IN" dirty="0"/>
          </a:p>
        </p:txBody>
      </p:sp>
      <p:cxnSp>
        <p:nvCxnSpPr>
          <p:cNvPr id="27" name="Straight Arrow Connector 26"/>
          <p:cNvCxnSpPr>
            <a:stCxn id="14" idx="1"/>
            <a:endCxn id="25" idx="5"/>
          </p:cNvCxnSpPr>
          <p:nvPr/>
        </p:nvCxnSpPr>
        <p:spPr>
          <a:xfrm flipH="1" flipV="1">
            <a:off x="3303990" y="2673628"/>
            <a:ext cx="894523" cy="1093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50006" y="4043966"/>
            <a:ext cx="2453984" cy="13909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Loan Adjustment</a:t>
            </a:r>
            <a:endParaRPr lang="en-IN" dirty="0"/>
          </a:p>
        </p:txBody>
      </p:sp>
      <p:sp>
        <p:nvSpPr>
          <p:cNvPr id="29" name="Oval 28"/>
          <p:cNvSpPr/>
          <p:nvPr/>
        </p:nvSpPr>
        <p:spPr>
          <a:xfrm>
            <a:off x="5228823" y="674857"/>
            <a:ext cx="2614411" cy="12312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Adhoc</a:t>
            </a:r>
            <a:r>
              <a:rPr lang="en-IN" dirty="0" smtClean="0"/>
              <a:t> Payment</a:t>
            </a:r>
            <a:endParaRPr lang="en-IN" dirty="0"/>
          </a:p>
        </p:txBody>
      </p:sp>
      <p:sp>
        <p:nvSpPr>
          <p:cNvPr id="30" name="Oval 29"/>
          <p:cNvSpPr/>
          <p:nvPr/>
        </p:nvSpPr>
        <p:spPr>
          <a:xfrm>
            <a:off x="8525814" y="3767071"/>
            <a:ext cx="2601532" cy="13715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Deputation</a:t>
            </a:r>
            <a:endParaRPr lang="en-IN" dirty="0"/>
          </a:p>
        </p:txBody>
      </p:sp>
      <p:sp>
        <p:nvSpPr>
          <p:cNvPr id="31" name="Oval 30"/>
          <p:cNvSpPr/>
          <p:nvPr/>
        </p:nvSpPr>
        <p:spPr>
          <a:xfrm>
            <a:off x="7585656" y="5434885"/>
            <a:ext cx="1970468" cy="11199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Allowance</a:t>
            </a:r>
            <a:endParaRPr lang="en-IN" dirty="0"/>
          </a:p>
        </p:txBody>
      </p:sp>
      <p:cxnSp>
        <p:nvCxnSpPr>
          <p:cNvPr id="33" name="Straight Arrow Connector 32"/>
          <p:cNvCxnSpPr>
            <a:stCxn id="14" idx="0"/>
          </p:cNvCxnSpPr>
          <p:nvPr/>
        </p:nvCxnSpPr>
        <p:spPr>
          <a:xfrm flipV="1">
            <a:off x="5695828" y="1906073"/>
            <a:ext cx="267090" cy="579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8" idx="6"/>
          </p:cNvCxnSpPr>
          <p:nvPr/>
        </p:nvCxnSpPr>
        <p:spPr>
          <a:xfrm flipH="1">
            <a:off x="3303990" y="4327301"/>
            <a:ext cx="843008" cy="412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1" idx="1"/>
          </p:cNvCxnSpPr>
          <p:nvPr/>
        </p:nvCxnSpPr>
        <p:spPr>
          <a:xfrm>
            <a:off x="6979610" y="4926169"/>
            <a:ext cx="894614" cy="67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0" idx="2"/>
          </p:cNvCxnSpPr>
          <p:nvPr/>
        </p:nvCxnSpPr>
        <p:spPr>
          <a:xfrm>
            <a:off x="7244657" y="4327301"/>
            <a:ext cx="1281157" cy="125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9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5ED07B-D6A3-49CD-B15A-84C712B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315A-8B0C-40E1-992D-4216CFB4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11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Masters: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3815626" y="1183480"/>
            <a:ext cx="3377516" cy="3251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Masters</a:t>
            </a:r>
          </a:p>
          <a:p>
            <a:pPr algn="ctr"/>
            <a:r>
              <a:rPr lang="en-US" sz="1600" b="1" dirty="0">
                <a:solidFill>
                  <a:srgbClr val="FFFF00"/>
                </a:solidFill>
              </a:rPr>
              <a:t>Employee Master </a:t>
            </a:r>
            <a:endParaRPr lang="en-US" sz="1600" b="1" dirty="0" smtClean="0">
              <a:solidFill>
                <a:srgbClr val="FFFF00"/>
              </a:solidFill>
            </a:endParaRP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Loans </a:t>
            </a:r>
            <a:r>
              <a:rPr lang="en-US" sz="1600" b="1" dirty="0">
                <a:solidFill>
                  <a:srgbClr val="FFFF00"/>
                </a:solidFill>
              </a:rPr>
              <a:t>&amp; Advances </a:t>
            </a:r>
            <a:endParaRPr lang="en-US" sz="1600" b="1" dirty="0" smtClean="0">
              <a:solidFill>
                <a:srgbClr val="FFFF00"/>
              </a:solidFill>
            </a:endParaRP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Personal </a:t>
            </a:r>
            <a:r>
              <a:rPr lang="en-US" sz="1600" b="1" dirty="0">
                <a:solidFill>
                  <a:srgbClr val="FFFF00"/>
                </a:solidFill>
              </a:rPr>
              <a:t>Earnings </a:t>
            </a:r>
            <a:endParaRPr lang="en-US" sz="1600" b="1" dirty="0" smtClean="0">
              <a:solidFill>
                <a:srgbClr val="FFFF00"/>
              </a:solidFill>
            </a:endParaRP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Personal Deductions</a:t>
            </a: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PF Loans </a:t>
            </a:r>
            <a:r>
              <a:rPr lang="en-IN" sz="1600" b="1" dirty="0" smtClean="0">
                <a:solidFill>
                  <a:srgbClr val="FFFF00"/>
                </a:solidFill>
              </a:rPr>
              <a:t> 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JAIIB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CAIIB</a:t>
            </a:r>
            <a:endParaRPr lang="en-IN" sz="1600" b="1" dirty="0" smtClean="0">
              <a:solidFill>
                <a:srgbClr val="FFFF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4815" y="3214946"/>
            <a:ext cx="2614411" cy="12312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Personal Deductions 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4" name="Oval 13"/>
          <p:cNvSpPr/>
          <p:nvPr/>
        </p:nvSpPr>
        <p:spPr>
          <a:xfrm>
            <a:off x="494615" y="1037774"/>
            <a:ext cx="2614411" cy="12312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Employee Master </a:t>
            </a:r>
          </a:p>
          <a:p>
            <a:pPr algn="ctr"/>
            <a:endParaRPr lang="en-IN" dirty="0"/>
          </a:p>
        </p:txBody>
      </p:sp>
      <p:sp>
        <p:nvSpPr>
          <p:cNvPr id="15" name="Oval 14"/>
          <p:cNvSpPr/>
          <p:nvPr/>
        </p:nvSpPr>
        <p:spPr>
          <a:xfrm>
            <a:off x="8470006" y="1942082"/>
            <a:ext cx="2614411" cy="12312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Loans &amp; Advances </a:t>
            </a:r>
          </a:p>
        </p:txBody>
      </p:sp>
      <p:sp>
        <p:nvSpPr>
          <p:cNvPr id="16" name="Oval 15"/>
          <p:cNvSpPr/>
          <p:nvPr/>
        </p:nvSpPr>
        <p:spPr>
          <a:xfrm>
            <a:off x="8790099" y="4226099"/>
            <a:ext cx="2614411" cy="12312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Personal Earnings </a:t>
            </a:r>
          </a:p>
        </p:txBody>
      </p:sp>
      <p:cxnSp>
        <p:nvCxnSpPr>
          <p:cNvPr id="6" name="Straight Arrow Connector 5"/>
          <p:cNvCxnSpPr>
            <a:endCxn id="15" idx="2"/>
          </p:cNvCxnSpPr>
          <p:nvPr/>
        </p:nvCxnSpPr>
        <p:spPr>
          <a:xfrm>
            <a:off x="7193142" y="2268990"/>
            <a:ext cx="1276864" cy="28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6" idx="2"/>
          </p:cNvCxnSpPr>
          <p:nvPr/>
        </p:nvCxnSpPr>
        <p:spPr>
          <a:xfrm>
            <a:off x="7122017" y="4185634"/>
            <a:ext cx="1668082" cy="656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3109026" y="1722197"/>
            <a:ext cx="706599" cy="219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3242526" y="4434567"/>
            <a:ext cx="827198" cy="52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637172" y="316531"/>
            <a:ext cx="2768958" cy="12804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00"/>
                </a:solidFill>
              </a:rPr>
              <a:t>PF Loans </a:t>
            </a:r>
            <a:r>
              <a:rPr lang="en-IN" b="1">
                <a:solidFill>
                  <a:srgbClr val="FFFF00"/>
                </a:solidFill>
              </a:rPr>
              <a:t> 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7193142" y="1183479"/>
            <a:ext cx="493067" cy="281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651641" y="4706271"/>
            <a:ext cx="2768958" cy="12804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CAIIB </a:t>
            </a:r>
            <a:r>
              <a:rPr lang="en-IN" b="1" dirty="0" smtClean="0">
                <a:solidFill>
                  <a:srgbClr val="FFFF00"/>
                </a:solidFill>
              </a:rPr>
              <a:t> 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5027053" y="5161992"/>
            <a:ext cx="2768958" cy="12804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FF00"/>
                </a:solidFill>
              </a:rPr>
              <a:t>JAIIB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2841971" y="2807707"/>
            <a:ext cx="973655" cy="899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2"/>
          </p:cNvCxnSpPr>
          <p:nvPr/>
        </p:nvCxnSpPr>
        <p:spPr>
          <a:xfrm>
            <a:off x="5504384" y="4434568"/>
            <a:ext cx="780506" cy="727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41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5ED07B-D6A3-49CD-B15A-84C712B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315A-8B0C-40E1-992D-4216CFB4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8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Increments</a:t>
            </a:r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275786" y="2627290"/>
            <a:ext cx="2703824" cy="289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Increments</a:t>
            </a:r>
            <a:endParaRPr lang="en-IN" sz="2400" b="1" dirty="0" smtClean="0"/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Increment date change</a:t>
            </a:r>
          </a:p>
          <a:p>
            <a:pPr algn="ctr"/>
            <a:endParaRPr lang="en-IN" sz="1600" b="1" dirty="0" smtClean="0">
              <a:solidFill>
                <a:srgbClr val="FFFF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622674" y="3769387"/>
            <a:ext cx="2614411" cy="12312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Increment date change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979610" y="4140011"/>
            <a:ext cx="1643064" cy="244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230158" y="1133341"/>
            <a:ext cx="2028197" cy="20863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Masters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Authorization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Process</a:t>
            </a:r>
            <a:endParaRPr lang="en-IN" dirty="0">
              <a:solidFill>
                <a:srgbClr val="FFFF00"/>
              </a:solidFill>
            </a:endParaRPr>
          </a:p>
        </p:txBody>
      </p:sp>
      <p:cxnSp>
        <p:nvCxnSpPr>
          <p:cNvPr id="24" name="Elbow Connector 23"/>
          <p:cNvCxnSpPr>
            <a:stCxn id="22" idx="3"/>
            <a:endCxn id="9" idx="1"/>
          </p:cNvCxnSpPr>
          <p:nvPr/>
        </p:nvCxnSpPr>
        <p:spPr>
          <a:xfrm>
            <a:off x="3258355" y="2176530"/>
            <a:ext cx="1017431" cy="18968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353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5ED07B-D6A3-49CD-B15A-84C712B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315A-8B0C-40E1-992D-4216CFB4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8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Loans</a:t>
            </a:r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018207" y="2215166"/>
            <a:ext cx="3193961" cy="1884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Loans</a:t>
            </a:r>
            <a:endParaRPr lang="en-IN" sz="2400" b="1" dirty="0" smtClean="0"/>
          </a:p>
          <a:p>
            <a:pPr algn="ctr"/>
            <a:r>
              <a:rPr lang="en-IN" sz="1600" b="1" dirty="0">
                <a:solidFill>
                  <a:srgbClr val="FFFF00"/>
                </a:solidFill>
              </a:rPr>
              <a:t>Loan Adjustment</a:t>
            </a: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Loans </a:t>
            </a:r>
            <a:r>
              <a:rPr lang="en-US" sz="1600" b="1" dirty="0">
                <a:solidFill>
                  <a:srgbClr val="FFFF00"/>
                </a:solidFill>
              </a:rPr>
              <a:t>&amp; Advances </a:t>
            </a:r>
            <a:endParaRPr lang="en-US" sz="1600" b="1" dirty="0" smtClean="0">
              <a:solidFill>
                <a:srgbClr val="FFFF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93502" y="4842456"/>
            <a:ext cx="2127749" cy="1083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Loan Adjustment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35212" y="2614257"/>
            <a:ext cx="2498501" cy="11719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Loans &amp; Advances </a:t>
            </a:r>
          </a:p>
        </p:txBody>
      </p:sp>
      <p:cxnSp>
        <p:nvCxnSpPr>
          <p:cNvPr id="13" name="Straight Arrow Connector 12"/>
          <p:cNvCxnSpPr>
            <a:stCxn id="9" idx="3"/>
            <a:endCxn id="11" idx="1"/>
          </p:cNvCxnSpPr>
          <p:nvPr/>
        </p:nvCxnSpPr>
        <p:spPr>
          <a:xfrm>
            <a:off x="7212168" y="3157622"/>
            <a:ext cx="1323044" cy="42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6966" y="998707"/>
            <a:ext cx="2028197" cy="20863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Transactions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Masters</a:t>
            </a:r>
          </a:p>
        </p:txBody>
      </p:sp>
      <p:cxnSp>
        <p:nvCxnSpPr>
          <p:cNvPr id="25" name="Elbow Connector 24"/>
          <p:cNvCxnSpPr>
            <a:stCxn id="18" idx="3"/>
            <a:endCxn id="9" idx="1"/>
          </p:cNvCxnSpPr>
          <p:nvPr/>
        </p:nvCxnSpPr>
        <p:spPr>
          <a:xfrm>
            <a:off x="2695163" y="2041896"/>
            <a:ext cx="1323044" cy="11157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9" idx="2"/>
          </p:cNvCxnSpPr>
          <p:nvPr/>
        </p:nvCxnSpPr>
        <p:spPr>
          <a:xfrm flipH="1">
            <a:off x="5074276" y="4100078"/>
            <a:ext cx="540912" cy="716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178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5ED07B-D6A3-49CD-B15A-84C712B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315A-8B0C-40E1-992D-4216CFB4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8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Payslip</a:t>
            </a:r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250027" y="2086379"/>
            <a:ext cx="2962141" cy="20044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Payslip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Earnings 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Deductions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TDS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Loans</a:t>
            </a:r>
          </a:p>
          <a:p>
            <a:pPr algn="ctr"/>
            <a:endParaRPr lang="en-IN" sz="1600" b="1" dirty="0" smtClean="0">
              <a:solidFill>
                <a:srgbClr val="FFFF00"/>
              </a:solidFill>
            </a:endParaRPr>
          </a:p>
          <a:p>
            <a:pPr algn="ctr"/>
            <a:endParaRPr lang="en-US" sz="1600" b="1" dirty="0" smtClean="0">
              <a:solidFill>
                <a:srgbClr val="FFFF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31097" y="5081987"/>
            <a:ext cx="1944711" cy="11057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Earnings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8998" y="3374816"/>
            <a:ext cx="2498501" cy="11719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Deductions</a:t>
            </a:r>
          </a:p>
        </p:txBody>
      </p:sp>
      <p:cxnSp>
        <p:nvCxnSpPr>
          <p:cNvPr id="12" name="Straight Arrow Connector 11"/>
          <p:cNvCxnSpPr>
            <a:stCxn id="9" idx="3"/>
            <a:endCxn id="11" idx="1"/>
          </p:cNvCxnSpPr>
          <p:nvPr/>
        </p:nvCxnSpPr>
        <p:spPr>
          <a:xfrm>
            <a:off x="7212168" y="3088626"/>
            <a:ext cx="1506830" cy="872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609859" y="4559121"/>
            <a:ext cx="2060620" cy="10045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1609859" y="4552402"/>
            <a:ext cx="2060620" cy="11312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FF00"/>
                </a:solidFill>
              </a:rPr>
              <a:t>Loans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78533" y="1149440"/>
            <a:ext cx="2060620" cy="10045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FF00"/>
                </a:solidFill>
              </a:rPr>
              <a:t>TDS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7241405" y="1822361"/>
            <a:ext cx="875764" cy="540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68111" y="1052394"/>
            <a:ext cx="2311532" cy="20863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Attendance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Employee Masters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Payslip Process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Payslip Report</a:t>
            </a:r>
            <a:endParaRPr lang="en-IN" dirty="0">
              <a:solidFill>
                <a:srgbClr val="FFFF00"/>
              </a:solidFill>
            </a:endParaRPr>
          </a:p>
        </p:txBody>
      </p:sp>
      <p:cxnSp>
        <p:nvCxnSpPr>
          <p:cNvPr id="37" name="Straight Arrow Connector 36"/>
          <p:cNvCxnSpPr>
            <a:stCxn id="9" idx="2"/>
          </p:cNvCxnSpPr>
          <p:nvPr/>
        </p:nvCxnSpPr>
        <p:spPr>
          <a:xfrm>
            <a:off x="5731098" y="4090873"/>
            <a:ext cx="862885" cy="934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541690" y="4009926"/>
            <a:ext cx="708337" cy="705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29" idx="3"/>
          </p:cNvCxnSpPr>
          <p:nvPr/>
        </p:nvCxnSpPr>
        <p:spPr>
          <a:xfrm>
            <a:off x="3079643" y="2095583"/>
            <a:ext cx="1170384" cy="10431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250027" y="447087"/>
            <a:ext cx="2962141" cy="12106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FF00"/>
                </a:solidFill>
              </a:rPr>
              <a:t>Month End Service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46" name="Straight Arrow Connector 45"/>
          <p:cNvCxnSpPr>
            <a:endCxn id="42" idx="4"/>
          </p:cNvCxnSpPr>
          <p:nvPr/>
        </p:nvCxnSpPr>
        <p:spPr>
          <a:xfrm flipV="1">
            <a:off x="5589431" y="1657701"/>
            <a:ext cx="141667" cy="428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011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5ED07B-D6A3-49CD-B15A-84C712B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1D315A-8B0C-40E1-992D-4216CFB4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9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PF Loans: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520485" y="1880315"/>
            <a:ext cx="2459125" cy="19704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PF Loans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Re Payable Loan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Non Re Payable Loan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118576" y="4112221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Re Payable Loan</a:t>
            </a:r>
          </a:p>
        </p:txBody>
      </p:sp>
      <p:sp>
        <p:nvSpPr>
          <p:cNvPr id="12" name="Oval 11"/>
          <p:cNvSpPr/>
          <p:nvPr/>
        </p:nvSpPr>
        <p:spPr>
          <a:xfrm>
            <a:off x="8023538" y="1790162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Non Re Payable Loan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6979610" y="2556456"/>
            <a:ext cx="1043928" cy="360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031089" y="3882613"/>
            <a:ext cx="991672" cy="487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72732" y="1133341"/>
            <a:ext cx="2485623" cy="2060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Masters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Authorization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Process</a:t>
            </a:r>
            <a:endParaRPr lang="en-IN" dirty="0">
              <a:solidFill>
                <a:srgbClr val="FFFF00"/>
              </a:solidFill>
            </a:endParaRPr>
          </a:p>
        </p:txBody>
      </p:sp>
      <p:cxnSp>
        <p:nvCxnSpPr>
          <p:cNvPr id="21" name="Elbow Connector 20"/>
          <p:cNvCxnSpPr>
            <a:stCxn id="18" idx="3"/>
          </p:cNvCxnSpPr>
          <p:nvPr/>
        </p:nvCxnSpPr>
        <p:spPr>
          <a:xfrm>
            <a:off x="3258355" y="2163651"/>
            <a:ext cx="1262130" cy="7534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24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5ED07B-D6A3-49CD-B15A-84C712B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315A-8B0C-40E1-992D-4216CFB4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8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PF: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443211" y="1653091"/>
            <a:ext cx="2536399" cy="21719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PF</a:t>
            </a:r>
          </a:p>
          <a:p>
            <a:pPr algn="ctr"/>
            <a:endParaRPr lang="en-IN" sz="1600" b="1" dirty="0">
              <a:solidFill>
                <a:srgbClr val="FFFF00"/>
              </a:solidFill>
            </a:endParaRPr>
          </a:p>
          <a:p>
            <a:pPr algn="ctr"/>
            <a:r>
              <a:rPr lang="en-US" sz="1600" b="1" dirty="0">
                <a:solidFill>
                  <a:srgbClr val="FFFF00"/>
                </a:solidFill>
              </a:rPr>
              <a:t>PF Interest calculation </a:t>
            </a:r>
            <a:endParaRPr lang="en-US" sz="1600" b="1" dirty="0" smtClean="0">
              <a:solidFill>
                <a:srgbClr val="FFFF00"/>
              </a:solidFill>
            </a:endParaRP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PF </a:t>
            </a:r>
            <a:r>
              <a:rPr lang="en-US" sz="1600" b="1" dirty="0">
                <a:solidFill>
                  <a:srgbClr val="FFFF00"/>
                </a:solidFill>
              </a:rPr>
              <a:t>Interest Rate </a:t>
            </a:r>
            <a:endParaRPr lang="en-US" sz="1600" b="1" dirty="0" smtClean="0">
              <a:solidFill>
                <a:srgbClr val="FFFF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690611" y="3986010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PF Interest calculation </a:t>
            </a:r>
          </a:p>
        </p:txBody>
      </p:sp>
      <p:sp>
        <p:nvSpPr>
          <p:cNvPr id="11" name="Oval 10"/>
          <p:cNvSpPr/>
          <p:nvPr/>
        </p:nvSpPr>
        <p:spPr>
          <a:xfrm>
            <a:off x="7827685" y="1509125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PF Interest Rate </a:t>
            </a:r>
          </a:p>
        </p:txBody>
      </p:sp>
      <p:cxnSp>
        <p:nvCxnSpPr>
          <p:cNvPr id="13" name="Straight Arrow Connector 12"/>
          <p:cNvCxnSpPr>
            <a:stCxn id="9" idx="3"/>
          </p:cNvCxnSpPr>
          <p:nvPr/>
        </p:nvCxnSpPr>
        <p:spPr>
          <a:xfrm flipV="1">
            <a:off x="6979610" y="2391330"/>
            <a:ext cx="848075" cy="347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815625" y="3859240"/>
            <a:ext cx="981533" cy="489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51642" y="1133341"/>
            <a:ext cx="2606714" cy="22712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Payslip Process</a:t>
            </a: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PF Interest Calculation</a:t>
            </a:r>
            <a:endParaRPr lang="en-IN" dirty="0">
              <a:solidFill>
                <a:srgbClr val="FFFF00"/>
              </a:solidFill>
            </a:endParaRPr>
          </a:p>
        </p:txBody>
      </p:sp>
      <p:cxnSp>
        <p:nvCxnSpPr>
          <p:cNvPr id="21" name="Elbow Connector 20"/>
          <p:cNvCxnSpPr>
            <a:stCxn id="18" idx="3"/>
          </p:cNvCxnSpPr>
          <p:nvPr/>
        </p:nvCxnSpPr>
        <p:spPr>
          <a:xfrm>
            <a:off x="3258356" y="2268980"/>
            <a:ext cx="1146219" cy="6674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42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5ED07B-D6A3-49CD-B15A-84C712B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315A-8B0C-40E1-992D-4216CFB4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8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Services</a:t>
            </a:r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520485" y="1880315"/>
            <a:ext cx="2459125" cy="19704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Services</a:t>
            </a:r>
            <a:endParaRPr lang="en-IN" sz="2400" b="1" dirty="0" smtClean="0"/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Month End 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Year End</a:t>
            </a:r>
            <a:endParaRPr lang="en-IN" sz="1600" b="1" dirty="0">
              <a:solidFill>
                <a:srgbClr val="FFFF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118576" y="4112221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Month End </a:t>
            </a:r>
          </a:p>
        </p:txBody>
      </p:sp>
      <p:sp>
        <p:nvSpPr>
          <p:cNvPr id="11" name="Oval 10"/>
          <p:cNvSpPr/>
          <p:nvPr/>
        </p:nvSpPr>
        <p:spPr>
          <a:xfrm>
            <a:off x="8023538" y="1790162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Year End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979610" y="2556456"/>
            <a:ext cx="1043928" cy="360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031089" y="3882613"/>
            <a:ext cx="991672" cy="487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2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5ED07B-D6A3-49CD-B15A-84C712B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315A-8B0C-40E1-992D-4216CFB4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-7319"/>
            <a:ext cx="1238250" cy="323850"/>
          </a:xfrm>
          <a:prstGeom prst="rect">
            <a:avLst/>
          </a:prstGeom>
        </p:spPr>
      </p:pic>
      <p:sp>
        <p:nvSpPr>
          <p:cNvPr id="8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Reports</a:t>
            </a:r>
            <a:r>
              <a:rPr lang="en-US" altLang="zh-CN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162615" y="1378039"/>
            <a:ext cx="2816995" cy="24469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Reports</a:t>
            </a: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Payslip Reports</a:t>
            </a:r>
            <a:endParaRPr lang="en-IN" sz="1600" b="1" dirty="0">
              <a:solidFill>
                <a:srgbClr val="FFFF00"/>
              </a:solidFill>
            </a:endParaRP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Loan reports</a:t>
            </a: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PF Reports</a:t>
            </a: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Increment Reports</a:t>
            </a: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TDS Reports</a:t>
            </a:r>
          </a:p>
          <a:p>
            <a:pPr algn="ctr"/>
            <a:r>
              <a:rPr lang="en-US" sz="1600" b="1" dirty="0" smtClean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0" name="Oval 9"/>
          <p:cNvSpPr/>
          <p:nvPr/>
        </p:nvSpPr>
        <p:spPr>
          <a:xfrm>
            <a:off x="484328" y="1509125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Loan reports</a:t>
            </a:r>
          </a:p>
        </p:txBody>
      </p:sp>
      <p:sp>
        <p:nvSpPr>
          <p:cNvPr id="11" name="Oval 10"/>
          <p:cNvSpPr/>
          <p:nvPr/>
        </p:nvSpPr>
        <p:spPr>
          <a:xfrm>
            <a:off x="7961143" y="624905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Increment Reports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7046339" y="1545465"/>
            <a:ext cx="912805" cy="19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1"/>
            <a:endCxn id="10" idx="6"/>
          </p:cNvCxnSpPr>
          <p:nvPr/>
        </p:nvCxnSpPr>
        <p:spPr>
          <a:xfrm flipH="1" flipV="1">
            <a:off x="2609342" y="2211024"/>
            <a:ext cx="1553273" cy="390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23815" y="4578159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PF Reports</a:t>
            </a:r>
          </a:p>
        </p:txBody>
      </p:sp>
      <p:sp>
        <p:nvSpPr>
          <p:cNvPr id="16" name="Oval 15"/>
          <p:cNvSpPr/>
          <p:nvPr/>
        </p:nvSpPr>
        <p:spPr>
          <a:xfrm>
            <a:off x="7622146" y="4005330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TDS Reports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6979610" y="3589847"/>
            <a:ext cx="837866" cy="64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385978" y="3718916"/>
            <a:ext cx="915566" cy="98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688564" y="4989064"/>
            <a:ext cx="2125014" cy="1403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Payslip Reports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5578551" y="3864193"/>
            <a:ext cx="1" cy="1104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646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10625" y="2046599"/>
            <a:ext cx="580837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 You</a:t>
            </a:r>
            <a:endParaRPr lang="zh-CN" altLang="en-US" sz="8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206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09481-F4EC-4382-AB70-9B9D56B9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92" y="6554787"/>
            <a:ext cx="12405090" cy="36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0" y="0"/>
            <a:ext cx="1238250" cy="323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08BA6-D5F3-4E98-BA32-C4D103CB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92" y="6230937"/>
            <a:ext cx="12382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36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10312</TotalTime>
  <Words>235</Words>
  <Application>Microsoft Office PowerPoint</Application>
  <PresentationFormat>Widescreen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等线</vt:lpstr>
      <vt:lpstr>Office Theme</vt:lpstr>
      <vt:lpstr>Payroll - Business Flow Understanding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Suresh Kavili</dc:creator>
  <cp:lastModifiedBy>Haree Bollu</cp:lastModifiedBy>
  <cp:revision>145</cp:revision>
  <dcterms:created xsi:type="dcterms:W3CDTF">2019-10-23T12:54:32Z</dcterms:created>
  <dcterms:modified xsi:type="dcterms:W3CDTF">2021-07-29T07:39:56Z</dcterms:modified>
</cp:coreProperties>
</file>