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1" r:id="rId1"/>
  </p:sldMasterIdLst>
  <p:notesMasterIdLst>
    <p:notesMasterId r:id="rId19"/>
  </p:notesMasterIdLst>
  <p:sldIdLst>
    <p:sldId id="285" r:id="rId2"/>
    <p:sldId id="257" r:id="rId3"/>
    <p:sldId id="276" r:id="rId4"/>
    <p:sldId id="277" r:id="rId5"/>
    <p:sldId id="275" r:id="rId6"/>
    <p:sldId id="284" r:id="rId7"/>
    <p:sldId id="278" r:id="rId8"/>
    <p:sldId id="289" r:id="rId9"/>
    <p:sldId id="286" r:id="rId10"/>
    <p:sldId id="291" r:id="rId11"/>
    <p:sldId id="290" r:id="rId12"/>
    <p:sldId id="292" r:id="rId13"/>
    <p:sldId id="293" r:id="rId14"/>
    <p:sldId id="294" r:id="rId15"/>
    <p:sldId id="295" r:id="rId16"/>
    <p:sldId id="296" r:id="rId17"/>
    <p:sldId id="28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FF"/>
    <a:srgbClr val="970370"/>
    <a:srgbClr val="8A1070"/>
    <a:srgbClr val="71293E"/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540" y="-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1C32EF-45E5-4CBE-A62A-E6BE7724F807}" type="datetimeFigureOut">
              <a:rPr lang="en-IN" smtClean="0"/>
              <a:t>04-08-2021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460E3C-2AFE-4136-8F45-28B826A785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6895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7CB3A-6942-450D-BD3C-9AA63B4B74D1}" type="datetimeFigureOut">
              <a:rPr lang="en-IN" smtClean="0"/>
              <a:t>04-08-2021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B1AEF-6C25-4247-9453-7DE7EB4408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830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7CB3A-6942-450D-BD3C-9AA63B4B74D1}" type="datetimeFigureOut">
              <a:rPr lang="en-IN" smtClean="0"/>
              <a:t>04-08-2021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B1AEF-6C25-4247-9453-7DE7EB4408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7295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7CB3A-6942-450D-BD3C-9AA63B4B74D1}" type="datetimeFigureOut">
              <a:rPr lang="en-IN" smtClean="0"/>
              <a:t>04-08-2021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B1AEF-6C25-4247-9453-7DE7EB4408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7360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7CB3A-6942-450D-BD3C-9AA63B4B74D1}" type="datetimeFigureOut">
              <a:rPr lang="en-IN" smtClean="0"/>
              <a:t>04-08-2021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B1AEF-6C25-4247-9453-7DE7EB4408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006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7CB3A-6942-450D-BD3C-9AA63B4B74D1}" type="datetimeFigureOut">
              <a:rPr lang="en-IN" smtClean="0"/>
              <a:t>04-08-2021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B1AEF-6C25-4247-9453-7DE7EB4408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4029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7CB3A-6942-450D-BD3C-9AA63B4B74D1}" type="datetimeFigureOut">
              <a:rPr lang="en-IN" smtClean="0"/>
              <a:t>04-08-2021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B1AEF-6C25-4247-9453-7DE7EB4408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1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7CB3A-6942-450D-BD3C-9AA63B4B74D1}" type="datetimeFigureOut">
              <a:rPr lang="en-IN" smtClean="0"/>
              <a:t>04-08-2021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B1AEF-6C25-4247-9453-7DE7EB4408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655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7CB3A-6942-450D-BD3C-9AA63B4B74D1}" type="datetimeFigureOut">
              <a:rPr lang="en-IN" smtClean="0"/>
              <a:t>04-08-2021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B1AEF-6C25-4247-9453-7DE7EB4408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108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7CB3A-6942-450D-BD3C-9AA63B4B74D1}" type="datetimeFigureOut">
              <a:rPr lang="en-IN" smtClean="0"/>
              <a:t>04-08-2021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B1AEF-6C25-4247-9453-7DE7EB4408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471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7CB3A-6942-450D-BD3C-9AA63B4B74D1}" type="datetimeFigureOut">
              <a:rPr lang="en-IN" smtClean="0"/>
              <a:t>04-08-2021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B1AEF-6C25-4247-9453-7DE7EB4408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481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7CB3A-6942-450D-BD3C-9AA63B4B74D1}" type="datetimeFigureOut">
              <a:rPr lang="en-IN" smtClean="0"/>
              <a:t>04-08-2021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B1AEF-6C25-4247-9453-7DE7EB4408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854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07CB3A-6942-450D-BD3C-9AA63B4B74D1}" type="datetimeFigureOut">
              <a:rPr lang="en-IN" smtClean="0"/>
              <a:t>04-08-2021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8B1AEF-6C25-4247-9453-7DE7EB4408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309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2" r:id="rId1"/>
    <p:sldLayoutId id="2147484023" r:id="rId2"/>
    <p:sldLayoutId id="2147484024" r:id="rId3"/>
    <p:sldLayoutId id="2147484025" r:id="rId4"/>
    <p:sldLayoutId id="2147484026" r:id="rId5"/>
    <p:sldLayoutId id="2147484027" r:id="rId6"/>
    <p:sldLayoutId id="2147484028" r:id="rId7"/>
    <p:sldLayoutId id="2147484029" r:id="rId8"/>
    <p:sldLayoutId id="2147484030" r:id="rId9"/>
    <p:sldLayoutId id="2147484031" r:id="rId10"/>
    <p:sldLayoutId id="214748403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Mavensoft Systems Private Limited">
            <a:extLst>
              <a:ext uri="{FF2B5EF4-FFF2-40B4-BE49-F238E27FC236}">
                <a16:creationId xmlns:a16="http://schemas.microsoft.com/office/drawing/2014/main" id="{07BF8E81-FE41-4A06-B41D-BE1E3C164B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6090" y="2848304"/>
            <a:ext cx="2887681" cy="944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D2B78DD-9E7F-4FCC-80CD-4DD5F5EC2A5A}"/>
              </a:ext>
            </a:extLst>
          </p:cNvPr>
          <p:cNvSpPr txBox="1">
            <a:spLocks/>
          </p:cNvSpPr>
          <p:nvPr/>
        </p:nvSpPr>
        <p:spPr>
          <a:xfrm>
            <a:off x="4056845" y="1516600"/>
            <a:ext cx="7572853" cy="26634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 smtClean="0">
                <a:solidFill>
                  <a:schemeClr val="accent1">
                    <a:lumMod val="75000"/>
                  </a:schemeClr>
                </a:solidFill>
              </a:rPr>
              <a:t>HRMS- </a:t>
            </a:r>
            <a:r>
              <a:rPr lang="en-IN" dirty="0" smtClean="0">
                <a:solidFill>
                  <a:schemeClr val="accent1">
                    <a:lumMod val="75000"/>
                  </a:schemeClr>
                </a:solidFill>
              </a:rPr>
              <a:t>Business Flow</a:t>
            </a:r>
            <a:br>
              <a:rPr lang="en-IN" dirty="0" smtClean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IN" dirty="0" smtClean="0">
                <a:solidFill>
                  <a:schemeClr val="accent1">
                    <a:lumMod val="75000"/>
                  </a:schemeClr>
                </a:solidFill>
              </a:rPr>
              <a:t>Understanding Document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0A165E0-88E9-4AA2-B7C7-AE580BFC8B5F}"/>
              </a:ext>
            </a:extLst>
          </p:cNvPr>
          <p:cNvSpPr txBox="1">
            <a:spLocks/>
          </p:cNvSpPr>
          <p:nvPr/>
        </p:nvSpPr>
        <p:spPr>
          <a:xfrm>
            <a:off x="5342020" y="4258404"/>
            <a:ext cx="5478380" cy="186088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b="1" dirty="0" smtClean="0">
              <a:solidFill>
                <a:srgbClr val="970370"/>
              </a:solidFill>
            </a:endParaRPr>
          </a:p>
          <a:p>
            <a:endParaRPr lang="en-IN" b="1" dirty="0" smtClean="0">
              <a:solidFill>
                <a:srgbClr val="970370"/>
              </a:solidFill>
            </a:endParaRPr>
          </a:p>
          <a:p>
            <a:r>
              <a:rPr lang="en-IN" dirty="0" err="1" smtClean="0">
                <a:solidFill>
                  <a:schemeClr val="accent1">
                    <a:lumMod val="75000"/>
                  </a:schemeClr>
                </a:solidFill>
              </a:rPr>
              <a:t>Indhu</a:t>
            </a:r>
            <a:endParaRPr lang="en-IN" dirty="0" smtClean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IN" dirty="0" smtClean="0">
                <a:solidFill>
                  <a:schemeClr val="accent1">
                    <a:lumMod val="75000"/>
                  </a:schemeClr>
                </a:solidFill>
              </a:rPr>
              <a:t>Maven soft Technologies LLC</a:t>
            </a:r>
            <a:r>
              <a:rPr lang="en-IN" dirty="0" smtClean="0">
                <a:solidFill>
                  <a:srgbClr val="970370"/>
                </a:solidFill>
              </a:rPr>
              <a:t>.</a:t>
            </a:r>
            <a:endParaRPr lang="en-IN" dirty="0">
              <a:solidFill>
                <a:srgbClr val="97037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1840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F510E21-D969-47F1-B374-4FC1D7EE4BE3}"/>
              </a:ext>
            </a:extLst>
          </p:cNvPr>
          <p:cNvSpPr txBox="1">
            <a:spLocks/>
          </p:cNvSpPr>
          <p:nvPr/>
        </p:nvSpPr>
        <p:spPr>
          <a:xfrm>
            <a:off x="651641" y="969138"/>
            <a:ext cx="7493876" cy="630402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DashBoard</a:t>
            </a:r>
            <a:endParaRPr lang="en-US" sz="30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My Profile</a:t>
            </a: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Leaves</a:t>
            </a: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OD</a:t>
            </a: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LTC</a:t>
            </a: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PL Encashment</a:t>
            </a: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WorkDiary</a:t>
            </a:r>
            <a:endParaRPr lang="en-US" sz="30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Admin</a:t>
            </a: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Master</a:t>
            </a: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Reports</a:t>
            </a:r>
          </a:p>
          <a:p>
            <a:pPr algn="l" fontAlgn="b">
              <a:lnSpc>
                <a:spcPct val="150000"/>
              </a:lnSpc>
            </a:pPr>
            <a:r>
              <a:rPr lang="en-IN" sz="2200" b="1" dirty="0" smtClean="0">
                <a:solidFill>
                  <a:srgbClr val="970370"/>
                </a:solidFill>
                <a:latin typeface="+mn-lt"/>
              </a:rPr>
              <a:t/>
            </a:r>
            <a:br>
              <a:rPr lang="en-IN" sz="2200" b="1" dirty="0" smtClean="0">
                <a:solidFill>
                  <a:srgbClr val="970370"/>
                </a:solidFill>
                <a:latin typeface="+mn-lt"/>
              </a:rPr>
            </a:br>
            <a:r>
              <a:rPr lang="en-IN" sz="2200" b="1" dirty="0" smtClean="0">
                <a:solidFill>
                  <a:srgbClr val="970370"/>
                </a:solidFill>
                <a:latin typeface="+mn-lt"/>
              </a:rPr>
              <a:t/>
            </a:r>
            <a:br>
              <a:rPr lang="en-IN" sz="2200" b="1" dirty="0" smtClean="0">
                <a:solidFill>
                  <a:srgbClr val="970370"/>
                </a:solidFill>
                <a:latin typeface="+mn-lt"/>
              </a:rPr>
            </a:br>
            <a:r>
              <a:rPr lang="en-IN" sz="2200" b="1" dirty="0" smtClean="0">
                <a:solidFill>
                  <a:srgbClr val="970370"/>
                </a:solidFill>
                <a:latin typeface="+mn-lt"/>
              </a:rPr>
              <a:t/>
            </a:r>
            <a:br>
              <a:rPr lang="en-IN" sz="2200" b="1" dirty="0" smtClean="0">
                <a:solidFill>
                  <a:srgbClr val="970370"/>
                </a:solidFill>
                <a:latin typeface="+mn-lt"/>
              </a:rPr>
            </a:br>
            <a:r>
              <a:rPr lang="en-IN" sz="2200" b="1" dirty="0" smtClean="0">
                <a:solidFill>
                  <a:srgbClr val="970370"/>
                </a:solidFill>
                <a:latin typeface="+mn-lt"/>
              </a:rPr>
              <a:t> </a:t>
            </a:r>
            <a:br>
              <a:rPr lang="en-IN" sz="2200" b="1" dirty="0" smtClean="0">
                <a:solidFill>
                  <a:srgbClr val="970370"/>
                </a:solidFill>
                <a:latin typeface="+mn-lt"/>
              </a:rPr>
            </a:br>
            <a:r>
              <a:rPr lang="en-IN" sz="2200" b="1" dirty="0" smtClean="0">
                <a:solidFill>
                  <a:srgbClr val="970370"/>
                </a:solidFill>
                <a:latin typeface="+mn-lt"/>
              </a:rPr>
              <a:t/>
            </a:r>
            <a:br>
              <a:rPr lang="en-IN" sz="2200" b="1" dirty="0" smtClean="0">
                <a:solidFill>
                  <a:srgbClr val="970370"/>
                </a:solidFill>
                <a:latin typeface="+mn-lt"/>
              </a:rPr>
            </a:br>
            <a:r>
              <a:rPr lang="en-IN" sz="2200" b="1" dirty="0" smtClean="0">
                <a:solidFill>
                  <a:srgbClr val="970370"/>
                </a:solidFill>
                <a:latin typeface="+mn-lt"/>
              </a:rPr>
              <a:t> </a:t>
            </a:r>
            <a:r>
              <a:rPr lang="en-IN" sz="1200" dirty="0" smtClean="0">
                <a:solidFill>
                  <a:srgbClr val="970370"/>
                </a:solidFill>
                <a:latin typeface="+mn-lt"/>
              </a:rPr>
              <a:t/>
            </a:r>
            <a:br>
              <a:rPr lang="en-IN" sz="1200" dirty="0" smtClean="0">
                <a:solidFill>
                  <a:srgbClr val="970370"/>
                </a:solidFill>
                <a:latin typeface="+mn-lt"/>
              </a:rPr>
            </a:br>
            <a:endParaRPr lang="en-IN" sz="1200" dirty="0">
              <a:solidFill>
                <a:srgbClr val="970370"/>
              </a:solidFill>
              <a:latin typeface="+mn-lt"/>
            </a:endParaRPr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BD2EF748-6FC5-4760-9A52-3DF946EEEA58}"/>
              </a:ext>
            </a:extLst>
          </p:cNvPr>
          <p:cNvSpPr/>
          <p:nvPr/>
        </p:nvSpPr>
        <p:spPr>
          <a:xfrm>
            <a:off x="651641" y="199697"/>
            <a:ext cx="632796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IN" sz="4400" b="1" dirty="0" smtClean="0">
                <a:solidFill>
                  <a:schemeClr val="accent1">
                    <a:lumMod val="75000"/>
                  </a:schemeClr>
                </a:solidFill>
              </a:rPr>
              <a:t>Index</a:t>
            </a:r>
            <a:endParaRPr lang="zh-CN" altLang="en-US" sz="4400" b="1" dirty="0">
              <a:ln w="10160">
                <a:solidFill>
                  <a:schemeClr val="accent5"/>
                </a:solidFill>
                <a:prstDash val="solid"/>
              </a:ln>
              <a:solidFill>
                <a:schemeClr val="accent1">
                  <a:lumMod val="75000"/>
                </a:schemeClr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56306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矩形 1">
            <a:extLst>
              <a:ext uri="{FF2B5EF4-FFF2-40B4-BE49-F238E27FC236}">
                <a16:creationId xmlns:a16="http://schemas.microsoft.com/office/drawing/2014/main" id="{BD2EF748-6FC5-4760-9A52-3DF946EEEA58}"/>
              </a:ext>
            </a:extLst>
          </p:cNvPr>
          <p:cNvSpPr/>
          <p:nvPr/>
        </p:nvSpPr>
        <p:spPr>
          <a:xfrm>
            <a:off x="651641" y="-94584"/>
            <a:ext cx="632796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IN" sz="4400" b="1" dirty="0" smtClean="0">
                <a:solidFill>
                  <a:srgbClr val="0070C0"/>
                </a:solidFill>
              </a:rPr>
              <a:t>Flow</a:t>
            </a:r>
            <a:endParaRPr lang="zh-CN" altLang="en-US" sz="4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0070C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69" name="Rectangle: Rounded Corners 1">
            <a:extLst>
              <a:ext uri="{FF2B5EF4-FFF2-40B4-BE49-F238E27FC236}">
                <a16:creationId xmlns:a16="http://schemas.microsoft.com/office/drawing/2014/main" id="{E079BD0F-689D-4FF0-8B04-FDC8E17FAB3F}"/>
              </a:ext>
            </a:extLst>
          </p:cNvPr>
          <p:cNvSpPr/>
          <p:nvPr/>
        </p:nvSpPr>
        <p:spPr>
          <a:xfrm>
            <a:off x="1043189" y="663407"/>
            <a:ext cx="1961481" cy="16659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 </a:t>
            </a:r>
            <a:endParaRPr lang="en-IN" sz="2400" dirty="0" smtClean="0"/>
          </a:p>
          <a:p>
            <a:pPr fontAlgn="b">
              <a:lnSpc>
                <a:spcPct val="150000"/>
              </a:lnSpc>
            </a:pP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</a:rPr>
              <a:t>  </a:t>
            </a:r>
            <a:r>
              <a:rPr lang="en-US" sz="2400" b="1" dirty="0" err="1" smtClean="0">
                <a:solidFill>
                  <a:schemeClr val="bg1"/>
                </a:solidFill>
              </a:rPr>
              <a:t>DashBoard</a:t>
            </a:r>
            <a:endParaRPr lang="en-US" sz="2400" b="1" dirty="0">
              <a:solidFill>
                <a:schemeClr val="bg1"/>
              </a:solidFill>
            </a:endParaRPr>
          </a:p>
          <a:p>
            <a:pPr algn="ctr"/>
            <a:endParaRPr lang="en-IN" sz="2400" b="1" dirty="0"/>
          </a:p>
        </p:txBody>
      </p:sp>
      <p:sp>
        <p:nvSpPr>
          <p:cNvPr id="71" name="Rectangle: Rounded Corners 7">
            <a:extLst>
              <a:ext uri="{FF2B5EF4-FFF2-40B4-BE49-F238E27FC236}">
                <a16:creationId xmlns:a16="http://schemas.microsoft.com/office/drawing/2014/main" id="{31DAF3B4-5743-45EE-A04F-F0BF86C36D86}"/>
              </a:ext>
            </a:extLst>
          </p:cNvPr>
          <p:cNvSpPr/>
          <p:nvPr/>
        </p:nvSpPr>
        <p:spPr>
          <a:xfrm>
            <a:off x="4012073" y="676436"/>
            <a:ext cx="2043585" cy="181532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">
              <a:lnSpc>
                <a:spcPct val="150000"/>
              </a:lnSpc>
            </a:pPr>
            <a:r>
              <a:rPr lang="en-IN" dirty="0" smtClean="0"/>
              <a:t>     </a:t>
            </a:r>
            <a:r>
              <a:rPr lang="en-US" b="1" dirty="0">
                <a:solidFill>
                  <a:schemeClr val="bg1"/>
                </a:solidFill>
              </a:rPr>
              <a:t>My </a:t>
            </a:r>
            <a:r>
              <a:rPr lang="en-US" b="1" dirty="0" smtClean="0">
                <a:solidFill>
                  <a:schemeClr val="bg1"/>
                </a:solidFill>
              </a:rPr>
              <a:t>Profile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2" name="Rectangle: Rounded Corners 10">
            <a:extLst>
              <a:ext uri="{FF2B5EF4-FFF2-40B4-BE49-F238E27FC236}">
                <a16:creationId xmlns:a16="http://schemas.microsoft.com/office/drawing/2014/main" id="{12BA6111-6CCC-47A0-AC61-4029653C3A48}"/>
              </a:ext>
            </a:extLst>
          </p:cNvPr>
          <p:cNvSpPr/>
          <p:nvPr/>
        </p:nvSpPr>
        <p:spPr>
          <a:xfrm>
            <a:off x="9672614" y="695123"/>
            <a:ext cx="1992627" cy="182609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">
              <a:lnSpc>
                <a:spcPct val="150000"/>
              </a:lnSpc>
            </a:pPr>
            <a:r>
              <a:rPr lang="en-IN" sz="2400" dirty="0"/>
              <a:t> </a:t>
            </a:r>
            <a:r>
              <a:rPr lang="en-IN" sz="2400" dirty="0" smtClean="0"/>
              <a:t>  </a:t>
            </a:r>
            <a:endParaRPr lang="en-IN" sz="2400" dirty="0" smtClean="0"/>
          </a:p>
          <a:p>
            <a:pPr fontAlgn="b">
              <a:lnSpc>
                <a:spcPct val="150000"/>
              </a:lnSpc>
            </a:pPr>
            <a:r>
              <a:rPr lang="en-IN" sz="2400" b="1" dirty="0">
                <a:solidFill>
                  <a:schemeClr val="bg1"/>
                </a:solidFill>
              </a:rPr>
              <a:t> </a:t>
            </a:r>
            <a:r>
              <a:rPr lang="en-IN" sz="2400" b="1" dirty="0" smtClean="0">
                <a:solidFill>
                  <a:schemeClr val="bg1"/>
                </a:solidFill>
              </a:rPr>
              <a:t>         </a:t>
            </a:r>
            <a:r>
              <a:rPr lang="en-US" sz="2400" b="1" dirty="0" smtClean="0">
                <a:solidFill>
                  <a:schemeClr val="bg1"/>
                </a:solidFill>
              </a:rPr>
              <a:t>OD</a:t>
            </a:r>
            <a:endParaRPr lang="en-US" sz="2400" b="1" dirty="0">
              <a:solidFill>
                <a:schemeClr val="bg1"/>
              </a:solidFill>
            </a:endParaRPr>
          </a:p>
          <a:p>
            <a:pPr fontAlgn="b">
              <a:lnSpc>
                <a:spcPct val="150000"/>
              </a:lnSpc>
            </a:pPr>
            <a:r>
              <a:rPr lang="en-IN" sz="2400" b="1" dirty="0" smtClean="0">
                <a:solidFill>
                  <a:srgbClr val="970370"/>
                </a:solidFill>
              </a:rPr>
              <a:t> </a:t>
            </a:r>
            <a:endParaRPr lang="en-IN" sz="2400" b="1" dirty="0">
              <a:solidFill>
                <a:srgbClr val="970370"/>
              </a:solidFill>
            </a:endParaRPr>
          </a:p>
        </p:txBody>
      </p:sp>
      <p:sp>
        <p:nvSpPr>
          <p:cNvPr id="73" name="Rectangle: Rounded Corners 12">
            <a:extLst>
              <a:ext uri="{FF2B5EF4-FFF2-40B4-BE49-F238E27FC236}">
                <a16:creationId xmlns:a16="http://schemas.microsoft.com/office/drawing/2014/main" id="{D55065CD-FBF6-4D21-89C5-0CE30F775BCF}"/>
              </a:ext>
            </a:extLst>
          </p:cNvPr>
          <p:cNvSpPr/>
          <p:nvPr/>
        </p:nvSpPr>
        <p:spPr>
          <a:xfrm>
            <a:off x="9703903" y="2887653"/>
            <a:ext cx="1961338" cy="16484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">
              <a:lnSpc>
                <a:spcPct val="150000"/>
              </a:lnSpc>
            </a:pP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   </a:t>
            </a:r>
            <a:r>
              <a:rPr lang="en-US" sz="2400" b="1" dirty="0">
                <a:solidFill>
                  <a:schemeClr val="bg1"/>
                </a:solidFill>
              </a:rPr>
              <a:t>LTC</a:t>
            </a:r>
            <a:endParaRPr lang="en-US" sz="2400" b="1" dirty="0">
              <a:solidFill>
                <a:schemeClr val="bg1"/>
              </a:solidFill>
            </a:endParaRPr>
          </a:p>
        </p:txBody>
      </p:sp>
      <p:cxnSp>
        <p:nvCxnSpPr>
          <p:cNvPr id="78" name="Straight Arrow Connector 77"/>
          <p:cNvCxnSpPr/>
          <p:nvPr/>
        </p:nvCxnSpPr>
        <p:spPr>
          <a:xfrm>
            <a:off x="4713668" y="2859110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>
            <a:off x="341530" y="4149258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ight Arrow 80"/>
          <p:cNvSpPr/>
          <p:nvPr/>
        </p:nvSpPr>
        <p:spPr>
          <a:xfrm>
            <a:off x="3040058" y="1422740"/>
            <a:ext cx="909815" cy="2115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6" name="Rounded Rectangle 85"/>
          <p:cNvSpPr/>
          <p:nvPr/>
        </p:nvSpPr>
        <p:spPr>
          <a:xfrm>
            <a:off x="9703903" y="4875413"/>
            <a:ext cx="1956289" cy="174055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">
              <a:lnSpc>
                <a:spcPct val="150000"/>
              </a:lnSpc>
            </a:pPr>
            <a:r>
              <a:rPr lang="en-IN" b="1" dirty="0" smtClean="0">
                <a:solidFill>
                  <a:srgbClr val="970370"/>
                </a:solidFill>
              </a:rPr>
              <a:t>      </a:t>
            </a:r>
            <a:r>
              <a:rPr lang="en-US" sz="2400" b="1" dirty="0">
                <a:solidFill>
                  <a:schemeClr val="bg1"/>
                </a:solidFill>
              </a:rPr>
              <a:t>PL Encashment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741852" y="626930"/>
            <a:ext cx="2124144" cy="17766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">
              <a:lnSpc>
                <a:spcPct val="150000"/>
              </a:lnSpc>
            </a:pPr>
            <a:r>
              <a:rPr lang="en-IN" b="1" dirty="0" smtClean="0">
                <a:solidFill>
                  <a:srgbClr val="970370"/>
                </a:solidFill>
              </a:rPr>
              <a:t>     </a:t>
            </a:r>
          </a:p>
          <a:p>
            <a:pPr fontAlgn="b">
              <a:lnSpc>
                <a:spcPct val="150000"/>
              </a:lnSpc>
            </a:pPr>
            <a:r>
              <a:rPr lang="en-IN" b="1" dirty="0">
                <a:solidFill>
                  <a:srgbClr val="970370"/>
                </a:solidFill>
              </a:rPr>
              <a:t> </a:t>
            </a:r>
            <a:r>
              <a:rPr lang="en-IN" b="1" dirty="0" smtClean="0">
                <a:solidFill>
                  <a:srgbClr val="970370"/>
                </a:solidFill>
              </a:rPr>
              <a:t>        </a:t>
            </a:r>
            <a:r>
              <a:rPr lang="en-US" b="1" dirty="0">
                <a:solidFill>
                  <a:schemeClr val="bg1"/>
                </a:solidFill>
              </a:rPr>
              <a:t>Leaves</a:t>
            </a:r>
          </a:p>
          <a:p>
            <a:pPr fontAlgn="b">
              <a:lnSpc>
                <a:spcPct val="150000"/>
              </a:lnSpc>
            </a:pPr>
            <a:endParaRPr lang="en-IN" b="1" dirty="0">
              <a:solidFill>
                <a:srgbClr val="970370"/>
              </a:solidFill>
            </a:endParaRPr>
          </a:p>
        </p:txBody>
      </p:sp>
      <p:sp>
        <p:nvSpPr>
          <p:cNvPr id="16" name="Rectangle: Rounded Corners 12">
            <a:extLst>
              <a:ext uri="{FF2B5EF4-FFF2-40B4-BE49-F238E27FC236}">
                <a16:creationId xmlns:a16="http://schemas.microsoft.com/office/drawing/2014/main" id="{D55065CD-FBF6-4D21-89C5-0CE30F775BCF}"/>
              </a:ext>
            </a:extLst>
          </p:cNvPr>
          <p:cNvSpPr/>
          <p:nvPr/>
        </p:nvSpPr>
        <p:spPr>
          <a:xfrm>
            <a:off x="1043189" y="2584126"/>
            <a:ext cx="1961481" cy="18117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">
              <a:lnSpc>
                <a:spcPct val="150000"/>
              </a:lnSpc>
            </a:pP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</a:t>
            </a:r>
            <a:r>
              <a:rPr lang="en-US" sz="2400" b="1" dirty="0" smtClean="0">
                <a:solidFill>
                  <a:schemeClr val="bg1"/>
                </a:solidFill>
              </a:rPr>
              <a:t>Reports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7" name="Rectangle: Rounded Corners 12">
            <a:extLst>
              <a:ext uri="{FF2B5EF4-FFF2-40B4-BE49-F238E27FC236}">
                <a16:creationId xmlns:a16="http://schemas.microsoft.com/office/drawing/2014/main" id="{D55065CD-FBF6-4D21-89C5-0CE30F775BCF}"/>
              </a:ext>
            </a:extLst>
          </p:cNvPr>
          <p:cNvSpPr/>
          <p:nvPr/>
        </p:nvSpPr>
        <p:spPr>
          <a:xfrm>
            <a:off x="1078719" y="4751020"/>
            <a:ext cx="1961339" cy="18649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">
              <a:lnSpc>
                <a:spcPct val="150000"/>
              </a:lnSpc>
            </a:pP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   </a:t>
            </a:r>
            <a:r>
              <a:rPr lang="en-US" sz="2400" b="1" dirty="0">
                <a:solidFill>
                  <a:schemeClr val="bg1"/>
                </a:solidFill>
              </a:rPr>
              <a:t>Master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8" name="Rectangle: Rounded Corners 12">
            <a:extLst>
              <a:ext uri="{FF2B5EF4-FFF2-40B4-BE49-F238E27FC236}">
                <a16:creationId xmlns:a16="http://schemas.microsoft.com/office/drawing/2014/main" id="{D55065CD-FBF6-4D21-89C5-0CE30F775BCF}"/>
              </a:ext>
            </a:extLst>
          </p:cNvPr>
          <p:cNvSpPr/>
          <p:nvPr/>
        </p:nvSpPr>
        <p:spPr>
          <a:xfrm>
            <a:off x="4185634" y="4751020"/>
            <a:ext cx="2118149" cy="18649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">
              <a:lnSpc>
                <a:spcPct val="150000"/>
              </a:lnSpc>
            </a:pP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       </a:t>
            </a:r>
            <a:r>
              <a:rPr lang="en-US" sz="2400" b="1" dirty="0">
                <a:solidFill>
                  <a:schemeClr val="bg1"/>
                </a:solidFill>
              </a:rPr>
              <a:t>Admin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9" name="Rectangle: Rounded Corners 12">
            <a:extLst>
              <a:ext uri="{FF2B5EF4-FFF2-40B4-BE49-F238E27FC236}">
                <a16:creationId xmlns:a16="http://schemas.microsoft.com/office/drawing/2014/main" id="{D55065CD-FBF6-4D21-89C5-0CE30F775BCF}"/>
              </a:ext>
            </a:extLst>
          </p:cNvPr>
          <p:cNvSpPr/>
          <p:nvPr/>
        </p:nvSpPr>
        <p:spPr>
          <a:xfrm>
            <a:off x="7122571" y="4758813"/>
            <a:ext cx="1961481" cy="185715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">
              <a:lnSpc>
                <a:spcPct val="150000"/>
              </a:lnSpc>
            </a:pPr>
            <a:r>
              <a:rPr lang="en-US" sz="2400" b="1" dirty="0" err="1">
                <a:solidFill>
                  <a:schemeClr val="bg1"/>
                </a:solidFill>
              </a:rPr>
              <a:t>WorkDiary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20" name="Right Arrow 19"/>
          <p:cNvSpPr/>
          <p:nvPr/>
        </p:nvSpPr>
        <p:spPr>
          <a:xfrm rot="16200000">
            <a:off x="1906907" y="4498052"/>
            <a:ext cx="371821" cy="1674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ight Arrow 20"/>
          <p:cNvSpPr/>
          <p:nvPr/>
        </p:nvSpPr>
        <p:spPr>
          <a:xfrm rot="10800000">
            <a:off x="3055776" y="5499278"/>
            <a:ext cx="1114135" cy="2514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ight Arrow 21"/>
          <p:cNvSpPr/>
          <p:nvPr/>
        </p:nvSpPr>
        <p:spPr>
          <a:xfrm rot="10800000">
            <a:off x="6313415" y="5679582"/>
            <a:ext cx="782844" cy="23440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ight Arrow 22"/>
          <p:cNvSpPr/>
          <p:nvPr/>
        </p:nvSpPr>
        <p:spPr>
          <a:xfrm rot="10800000">
            <a:off x="9078425" y="5707229"/>
            <a:ext cx="625913" cy="2125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ight Arrow 23"/>
          <p:cNvSpPr/>
          <p:nvPr/>
        </p:nvSpPr>
        <p:spPr>
          <a:xfrm rot="5400000">
            <a:off x="10337784" y="4607824"/>
            <a:ext cx="379022" cy="2105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ight Arrow 24"/>
          <p:cNvSpPr/>
          <p:nvPr/>
        </p:nvSpPr>
        <p:spPr>
          <a:xfrm rot="5400000">
            <a:off x="10350111" y="2586939"/>
            <a:ext cx="372647" cy="2287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ight Arrow 25"/>
          <p:cNvSpPr/>
          <p:nvPr/>
        </p:nvSpPr>
        <p:spPr>
          <a:xfrm>
            <a:off x="8836297" y="1575140"/>
            <a:ext cx="836317" cy="1635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ight Arrow 26"/>
          <p:cNvSpPr/>
          <p:nvPr/>
        </p:nvSpPr>
        <p:spPr>
          <a:xfrm>
            <a:off x="6066751" y="1524027"/>
            <a:ext cx="675101" cy="2492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109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1">
            <a:extLst>
              <a:ext uri="{FF2B5EF4-FFF2-40B4-BE49-F238E27FC236}">
                <a16:creationId xmlns:a16="http://schemas.microsoft.com/office/drawing/2014/main" id="{BD2EF748-6FC5-4760-9A52-3DF946EEEA58}"/>
              </a:ext>
            </a:extLst>
          </p:cNvPr>
          <p:cNvSpPr/>
          <p:nvPr/>
        </p:nvSpPr>
        <p:spPr>
          <a:xfrm>
            <a:off x="659733" y="-153321"/>
            <a:ext cx="6327969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IN" sz="4400" b="1" dirty="0">
                <a:solidFill>
                  <a:srgbClr val="0070C0"/>
                </a:solidFill>
              </a:rPr>
              <a:t>Dashboard:</a:t>
            </a:r>
            <a:endParaRPr lang="zh-CN" altLang="en-US" sz="4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0070C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  <a:p>
            <a:endParaRPr lang="zh-CN" altLang="en-US" sz="4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97037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B67659C-B6BA-483F-B276-585CB7941510}"/>
              </a:ext>
            </a:extLst>
          </p:cNvPr>
          <p:cNvSpPr/>
          <p:nvPr/>
        </p:nvSpPr>
        <p:spPr>
          <a:xfrm>
            <a:off x="3567448" y="1854557"/>
            <a:ext cx="5921342" cy="31352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 </a:t>
            </a:r>
            <a:r>
              <a:rPr lang="en-IN" sz="2400" b="1" dirty="0" smtClean="0"/>
              <a:t>Dashboard</a:t>
            </a:r>
          </a:p>
          <a:p>
            <a:pPr algn="ctr"/>
            <a:r>
              <a:rPr lang="en-IN" b="1" dirty="0" smtClean="0">
                <a:solidFill>
                  <a:srgbClr val="FFFF00"/>
                </a:solidFill>
              </a:rPr>
              <a:t>Birthdays</a:t>
            </a:r>
          </a:p>
          <a:p>
            <a:pPr algn="ctr"/>
            <a:r>
              <a:rPr lang="en-IN" b="1" dirty="0" smtClean="0">
                <a:solidFill>
                  <a:srgbClr val="FFFF00"/>
                </a:solidFill>
              </a:rPr>
              <a:t>News</a:t>
            </a:r>
          </a:p>
          <a:p>
            <a:pPr algn="ctr"/>
            <a:r>
              <a:rPr lang="en-IN" b="1" dirty="0" smtClean="0">
                <a:solidFill>
                  <a:srgbClr val="FFFF00"/>
                </a:solidFill>
              </a:rPr>
              <a:t>Retirement</a:t>
            </a:r>
          </a:p>
          <a:p>
            <a:pPr algn="ctr"/>
            <a:r>
              <a:rPr lang="en-IN" b="1" dirty="0">
                <a:solidFill>
                  <a:srgbClr val="FFFF00"/>
                </a:solidFill>
              </a:rPr>
              <a:t>Leaves</a:t>
            </a:r>
            <a:endParaRPr lang="en-IN" b="1" dirty="0">
              <a:solidFill>
                <a:srgbClr val="FFFF00"/>
              </a:solidFill>
            </a:endParaRPr>
          </a:p>
          <a:p>
            <a:pPr algn="ctr"/>
            <a:r>
              <a:rPr lang="en-IN" sz="1600" b="1" dirty="0" smtClean="0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28" name="Oval 27"/>
          <p:cNvSpPr/>
          <p:nvPr/>
        </p:nvSpPr>
        <p:spPr>
          <a:xfrm>
            <a:off x="373488" y="4487504"/>
            <a:ext cx="2730320" cy="13909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FF00"/>
                </a:solidFill>
              </a:rPr>
              <a:t>News</a:t>
            </a:r>
          </a:p>
        </p:txBody>
      </p:sp>
      <p:sp>
        <p:nvSpPr>
          <p:cNvPr id="15" name="Oval 14"/>
          <p:cNvSpPr/>
          <p:nvPr/>
        </p:nvSpPr>
        <p:spPr>
          <a:xfrm>
            <a:off x="3760632" y="5336729"/>
            <a:ext cx="3696236" cy="13909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FF00"/>
                </a:solidFill>
              </a:rPr>
              <a:t>Retirement</a:t>
            </a:r>
          </a:p>
        </p:txBody>
      </p:sp>
      <p:sp>
        <p:nvSpPr>
          <p:cNvPr id="19" name="Oval 18"/>
          <p:cNvSpPr/>
          <p:nvPr/>
        </p:nvSpPr>
        <p:spPr>
          <a:xfrm>
            <a:off x="373488" y="1159098"/>
            <a:ext cx="2453984" cy="13909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FF00"/>
                </a:solidFill>
              </a:rPr>
              <a:t>Birthdays</a:t>
            </a:r>
          </a:p>
        </p:txBody>
      </p:sp>
      <p:sp>
        <p:nvSpPr>
          <p:cNvPr id="20" name="Oval 19"/>
          <p:cNvSpPr/>
          <p:nvPr/>
        </p:nvSpPr>
        <p:spPr>
          <a:xfrm>
            <a:off x="8744755" y="4989780"/>
            <a:ext cx="3291100" cy="13909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FF00"/>
                </a:solidFill>
              </a:rPr>
              <a:t>Leaves</a:t>
            </a:r>
            <a:endParaRPr lang="en-IN" b="1" dirty="0">
              <a:solidFill>
                <a:srgbClr val="FFFF00"/>
              </a:solidFill>
            </a:endParaRPr>
          </a:p>
        </p:txBody>
      </p:sp>
      <p:cxnSp>
        <p:nvCxnSpPr>
          <p:cNvPr id="8" name="Straight Arrow Connector 7"/>
          <p:cNvCxnSpPr>
            <a:stCxn id="14" idx="1"/>
          </p:cNvCxnSpPr>
          <p:nvPr/>
        </p:nvCxnSpPr>
        <p:spPr>
          <a:xfrm flipH="1" flipV="1">
            <a:off x="2614411" y="2343955"/>
            <a:ext cx="953037" cy="10782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endCxn id="28" idx="7"/>
          </p:cNvCxnSpPr>
          <p:nvPr/>
        </p:nvCxnSpPr>
        <p:spPr>
          <a:xfrm flipH="1">
            <a:off x="2703962" y="3902299"/>
            <a:ext cx="863486" cy="788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6800045" y="4989780"/>
            <a:ext cx="656823" cy="470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9156879" y="4989780"/>
            <a:ext cx="331911" cy="1231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5293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1">
            <a:extLst>
              <a:ext uri="{FF2B5EF4-FFF2-40B4-BE49-F238E27FC236}">
                <a16:creationId xmlns:a16="http://schemas.microsoft.com/office/drawing/2014/main" id="{BD2EF748-6FC5-4760-9A52-3DF946EEEA58}"/>
              </a:ext>
            </a:extLst>
          </p:cNvPr>
          <p:cNvSpPr/>
          <p:nvPr/>
        </p:nvSpPr>
        <p:spPr>
          <a:xfrm>
            <a:off x="659733" y="-153321"/>
            <a:ext cx="6327969" cy="178510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fontAlgn="b">
              <a:lnSpc>
                <a:spcPct val="150000"/>
              </a:lnSpc>
            </a:pPr>
            <a:r>
              <a:rPr lang="en-US" sz="4400" b="1" dirty="0" smtClean="0">
                <a:solidFill>
                  <a:srgbClr val="0070C0"/>
                </a:solidFill>
              </a:rPr>
              <a:t>My </a:t>
            </a:r>
            <a:r>
              <a:rPr lang="en-US" sz="4400" b="1" dirty="0">
                <a:solidFill>
                  <a:srgbClr val="0070C0"/>
                </a:solidFill>
              </a:rPr>
              <a:t>Profile</a:t>
            </a:r>
            <a:endParaRPr lang="en-US" sz="4400" b="1" dirty="0" smtClean="0">
              <a:solidFill>
                <a:srgbClr val="0070C0"/>
              </a:solidFill>
            </a:endParaRPr>
          </a:p>
          <a:p>
            <a:endParaRPr lang="zh-CN" altLang="en-US" sz="4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97037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0" name="Rectangle: Rounded Corners 13">
            <a:extLst>
              <a:ext uri="{FF2B5EF4-FFF2-40B4-BE49-F238E27FC236}">
                <a16:creationId xmlns:a16="http://schemas.microsoft.com/office/drawing/2014/main" id="{3B67659C-B6BA-483F-B276-585CB7941510}"/>
              </a:ext>
            </a:extLst>
          </p:cNvPr>
          <p:cNvSpPr/>
          <p:nvPr/>
        </p:nvSpPr>
        <p:spPr>
          <a:xfrm>
            <a:off x="4234179" y="1245416"/>
            <a:ext cx="2488593" cy="20992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">
              <a:lnSpc>
                <a:spcPct val="150000"/>
              </a:lnSpc>
            </a:pPr>
            <a:r>
              <a:rPr lang="en-IN" sz="2400" dirty="0"/>
              <a:t> </a:t>
            </a:r>
            <a:r>
              <a:rPr lang="en-IN" sz="2400" dirty="0" smtClean="0"/>
              <a:t>                         </a:t>
            </a:r>
            <a:r>
              <a:rPr lang="en-IN" sz="2400" dirty="0" smtClean="0"/>
              <a:t>             </a:t>
            </a:r>
            <a:r>
              <a:rPr lang="en-US" sz="2400" b="1" dirty="0" smtClean="0">
                <a:solidFill>
                  <a:schemeClr val="bg1"/>
                </a:solidFill>
              </a:rPr>
              <a:t>My Profile</a:t>
            </a:r>
          </a:p>
          <a:p>
            <a:pPr algn="ctr"/>
            <a:r>
              <a:rPr lang="en-US" b="1" dirty="0" smtClean="0">
                <a:solidFill>
                  <a:srgbClr val="FFFF00"/>
                </a:solidFill>
              </a:rPr>
              <a:t>                                                Profile</a:t>
            </a:r>
            <a:endParaRPr lang="en-US" b="1" dirty="0">
              <a:solidFill>
                <a:srgbClr val="FFFF00"/>
              </a:solidFill>
            </a:endParaRPr>
          </a:p>
          <a:p>
            <a:endParaRPr lang="en-IN" b="1" dirty="0">
              <a:solidFill>
                <a:srgbClr val="FFFF00"/>
              </a:solidFill>
            </a:endParaRPr>
          </a:p>
          <a:p>
            <a:pPr algn="ctr"/>
            <a:r>
              <a:rPr lang="en-IN" sz="1600" b="1" dirty="0" smtClean="0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17" name="Oval 16"/>
          <p:cNvSpPr/>
          <p:nvPr/>
        </p:nvSpPr>
        <p:spPr>
          <a:xfrm>
            <a:off x="4268788" y="4237149"/>
            <a:ext cx="2453984" cy="13909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Profile</a:t>
            </a:r>
            <a:endParaRPr lang="en-US" b="1" dirty="0">
              <a:solidFill>
                <a:srgbClr val="FFFF00"/>
              </a:solidFill>
            </a:endParaRPr>
          </a:p>
        </p:txBody>
      </p:sp>
      <p:cxnSp>
        <p:nvCxnSpPr>
          <p:cNvPr id="20" name="Straight Arrow Connector 19"/>
          <p:cNvCxnSpPr>
            <a:stCxn id="10" idx="2"/>
            <a:endCxn id="17" idx="0"/>
          </p:cNvCxnSpPr>
          <p:nvPr/>
        </p:nvCxnSpPr>
        <p:spPr>
          <a:xfrm>
            <a:off x="5478476" y="3344674"/>
            <a:ext cx="17304" cy="8924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9417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13">
            <a:extLst>
              <a:ext uri="{FF2B5EF4-FFF2-40B4-BE49-F238E27FC236}">
                <a16:creationId xmlns:a16="http://schemas.microsoft.com/office/drawing/2014/main" id="{3B67659C-B6BA-483F-B276-585CB7941510}"/>
              </a:ext>
            </a:extLst>
          </p:cNvPr>
          <p:cNvSpPr/>
          <p:nvPr/>
        </p:nvSpPr>
        <p:spPr>
          <a:xfrm>
            <a:off x="4043968" y="1568453"/>
            <a:ext cx="4082602" cy="28921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">
              <a:lnSpc>
                <a:spcPct val="150000"/>
              </a:lnSpc>
            </a:pPr>
            <a:r>
              <a:rPr lang="en-IN" sz="2400" dirty="0"/>
              <a:t> </a:t>
            </a:r>
            <a:r>
              <a:rPr lang="en-IN" sz="2400" dirty="0" smtClean="0"/>
              <a:t>                    </a:t>
            </a:r>
            <a:r>
              <a:rPr lang="en-US" sz="2400" b="1" dirty="0" smtClean="0">
                <a:solidFill>
                  <a:schemeClr val="bg1"/>
                </a:solidFill>
              </a:rPr>
              <a:t>Leaves</a:t>
            </a:r>
          </a:p>
          <a:p>
            <a:pPr algn="ctr"/>
            <a:r>
              <a:rPr lang="en-US" b="1" dirty="0" smtClean="0">
                <a:solidFill>
                  <a:srgbClr val="FFFF00"/>
                </a:solidFill>
              </a:rPr>
              <a:t>Leave Apply</a:t>
            </a:r>
          </a:p>
          <a:p>
            <a:pPr algn="ctr"/>
            <a:r>
              <a:rPr lang="en-US" b="1" dirty="0" smtClean="0">
                <a:solidFill>
                  <a:srgbClr val="FFFF00"/>
                </a:solidFill>
              </a:rPr>
              <a:t>          </a:t>
            </a:r>
            <a:r>
              <a:rPr lang="en-US" b="1" dirty="0" err="1" smtClean="0">
                <a:solidFill>
                  <a:srgbClr val="FFFF00"/>
                </a:solidFill>
              </a:rPr>
              <a:t>Emp</a:t>
            </a:r>
            <a:r>
              <a:rPr lang="en-US" b="1" dirty="0" smtClean="0">
                <a:solidFill>
                  <a:srgbClr val="FFFF00"/>
                </a:solidFill>
              </a:rPr>
              <a:t> </a:t>
            </a:r>
            <a:r>
              <a:rPr lang="en-US" b="1" dirty="0">
                <a:solidFill>
                  <a:srgbClr val="FFFF00"/>
                </a:solidFill>
              </a:rPr>
              <a:t>Leave Balance</a:t>
            </a:r>
          </a:p>
          <a:p>
            <a:pPr algn="ctr"/>
            <a:r>
              <a:rPr lang="en-US" b="1" dirty="0" smtClean="0">
                <a:solidFill>
                  <a:srgbClr val="FFFF00"/>
                </a:solidFill>
              </a:rPr>
              <a:t>   Leave </a:t>
            </a:r>
            <a:r>
              <a:rPr lang="en-US" b="1" dirty="0">
                <a:solidFill>
                  <a:srgbClr val="FFFF00"/>
                </a:solidFill>
              </a:rPr>
              <a:t>Approvals</a:t>
            </a:r>
          </a:p>
          <a:p>
            <a:pPr algn="ctr"/>
            <a:r>
              <a:rPr lang="en-US" b="1" dirty="0" smtClean="0">
                <a:solidFill>
                  <a:srgbClr val="FFFF00"/>
                </a:solidFill>
              </a:rPr>
              <a:t>         My </a:t>
            </a:r>
            <a:r>
              <a:rPr lang="en-US" b="1" dirty="0">
                <a:solidFill>
                  <a:srgbClr val="FFFF00"/>
                </a:solidFill>
              </a:rPr>
              <a:t>Leave Approvals</a:t>
            </a:r>
          </a:p>
          <a:p>
            <a:endParaRPr lang="en-IN" b="1" dirty="0">
              <a:solidFill>
                <a:srgbClr val="FFFF00"/>
              </a:solidFill>
            </a:endParaRPr>
          </a:p>
          <a:p>
            <a:r>
              <a:rPr lang="en-IN" dirty="0"/>
              <a:t/>
            </a:r>
            <a:br>
              <a:rPr lang="en-IN" dirty="0"/>
            </a:br>
            <a:endParaRPr lang="en-IN" sz="1600" b="1" dirty="0" smtClean="0">
              <a:solidFill>
                <a:srgbClr val="FFFF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47731" y="127988"/>
            <a:ext cx="4636394" cy="8529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">
              <a:lnSpc>
                <a:spcPct val="150000"/>
              </a:lnSpc>
            </a:pPr>
            <a:r>
              <a:rPr lang="en-US" sz="4000" b="1" dirty="0">
                <a:solidFill>
                  <a:srgbClr val="0070C0"/>
                </a:solidFill>
              </a:rPr>
              <a:t>Leaves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347731" y="3212732"/>
            <a:ext cx="2897745" cy="12478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Leave Apply</a:t>
            </a:r>
          </a:p>
        </p:txBody>
      </p:sp>
      <p:cxnSp>
        <p:nvCxnSpPr>
          <p:cNvPr id="27" name="Straight Arrow Connector 26"/>
          <p:cNvCxnSpPr>
            <a:stCxn id="9" idx="1"/>
          </p:cNvCxnSpPr>
          <p:nvPr/>
        </p:nvCxnSpPr>
        <p:spPr>
          <a:xfrm flipH="1">
            <a:off x="3155325" y="3014522"/>
            <a:ext cx="888643" cy="4448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5228825" y="5545747"/>
            <a:ext cx="2897745" cy="12478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rgbClr val="FFFF00"/>
                </a:solidFill>
              </a:rPr>
              <a:t>Emp</a:t>
            </a:r>
            <a:r>
              <a:rPr lang="en-US" b="1" dirty="0">
                <a:solidFill>
                  <a:srgbClr val="FFFF00"/>
                </a:solidFill>
              </a:rPr>
              <a:t> Leave Balance</a:t>
            </a:r>
            <a:endParaRPr lang="en-IN" b="1" dirty="0">
              <a:solidFill>
                <a:srgbClr val="FFFF00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9015213" y="3401453"/>
            <a:ext cx="2897745" cy="12478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Leave Approvals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8925062" y="733549"/>
            <a:ext cx="2897745" cy="12478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My Leave Approvals</a:t>
            </a:r>
            <a:endParaRPr lang="en-IN" b="1" dirty="0">
              <a:solidFill>
                <a:srgbClr val="FFFF00"/>
              </a:solidFill>
            </a:endParaRPr>
          </a:p>
        </p:txBody>
      </p:sp>
      <p:cxnSp>
        <p:nvCxnSpPr>
          <p:cNvPr id="3" name="Straight Arrow Connector 2"/>
          <p:cNvCxnSpPr/>
          <p:nvPr/>
        </p:nvCxnSpPr>
        <p:spPr>
          <a:xfrm flipV="1">
            <a:off x="8126570" y="1568453"/>
            <a:ext cx="798492" cy="5179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>
            <a:stCxn id="9" idx="3"/>
          </p:cNvCxnSpPr>
          <p:nvPr/>
        </p:nvCxnSpPr>
        <p:spPr>
          <a:xfrm>
            <a:off x="8126570" y="3014522"/>
            <a:ext cx="888643" cy="8221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6568225" y="4460591"/>
            <a:ext cx="927279" cy="10851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7353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13">
            <a:extLst>
              <a:ext uri="{FF2B5EF4-FFF2-40B4-BE49-F238E27FC236}">
                <a16:creationId xmlns:a16="http://schemas.microsoft.com/office/drawing/2014/main" id="{3B67659C-B6BA-483F-B276-585CB7941510}"/>
              </a:ext>
            </a:extLst>
          </p:cNvPr>
          <p:cNvSpPr/>
          <p:nvPr/>
        </p:nvSpPr>
        <p:spPr>
          <a:xfrm>
            <a:off x="4018208" y="2215166"/>
            <a:ext cx="2871990" cy="18849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">
              <a:lnSpc>
                <a:spcPct val="150000"/>
              </a:lnSpc>
            </a:pPr>
            <a:r>
              <a:rPr lang="en-IN" sz="2800" dirty="0"/>
              <a:t> </a:t>
            </a:r>
            <a:r>
              <a:rPr lang="en-IN" sz="2800" dirty="0" smtClean="0"/>
              <a:t>         </a:t>
            </a:r>
            <a:r>
              <a:rPr lang="en-IN" sz="2800" dirty="0" smtClean="0"/>
              <a:t>  </a:t>
            </a:r>
            <a:r>
              <a:rPr lang="en-US" sz="2800" b="1" dirty="0" smtClean="0">
                <a:solidFill>
                  <a:schemeClr val="bg1"/>
                </a:solidFill>
              </a:rPr>
              <a:t>OD</a:t>
            </a:r>
            <a:endParaRPr lang="en-US" sz="2800" b="1" dirty="0">
              <a:solidFill>
                <a:schemeClr val="bg1"/>
              </a:solidFill>
            </a:endParaRPr>
          </a:p>
          <a:p>
            <a:pPr fontAlgn="b">
              <a:lnSpc>
                <a:spcPct val="150000"/>
              </a:lnSpc>
            </a:pPr>
            <a:r>
              <a:rPr lang="en-IN" b="1" dirty="0" smtClean="0">
                <a:solidFill>
                  <a:srgbClr val="FFFF00"/>
                </a:solidFill>
              </a:rPr>
              <a:t>          OD </a:t>
            </a:r>
            <a:r>
              <a:rPr lang="en-IN" b="1" dirty="0">
                <a:solidFill>
                  <a:srgbClr val="FFFF00"/>
                </a:solidFill>
              </a:rPr>
              <a:t>Apply</a:t>
            </a:r>
          </a:p>
          <a:p>
            <a:pPr fontAlgn="b">
              <a:lnSpc>
                <a:spcPct val="150000"/>
              </a:lnSpc>
            </a:pPr>
            <a:r>
              <a:rPr lang="en-IN" b="1" dirty="0" smtClean="0">
                <a:solidFill>
                  <a:srgbClr val="FFFF00"/>
                </a:solidFill>
              </a:rPr>
              <a:t>         OD </a:t>
            </a:r>
            <a:r>
              <a:rPr lang="en-IN" b="1" dirty="0">
                <a:solidFill>
                  <a:srgbClr val="FFFF00"/>
                </a:solidFill>
              </a:rPr>
              <a:t>Approvals</a:t>
            </a:r>
          </a:p>
          <a:p>
            <a:pPr fontAlgn="b">
              <a:lnSpc>
                <a:spcPct val="150000"/>
              </a:lnSpc>
            </a:pPr>
            <a:endParaRPr lang="en-IN" sz="2400" b="1" dirty="0">
              <a:solidFill>
                <a:srgbClr val="FFFF00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002073" y="4938347"/>
            <a:ext cx="2127749" cy="10837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">
              <a:lnSpc>
                <a:spcPct val="150000"/>
              </a:lnSpc>
            </a:pPr>
            <a:r>
              <a:rPr lang="en-IN" sz="2400" b="1" dirty="0">
                <a:solidFill>
                  <a:schemeClr val="bg1"/>
                </a:solidFill>
              </a:rPr>
              <a:t> </a:t>
            </a:r>
            <a:r>
              <a:rPr lang="en-IN" b="1" dirty="0">
                <a:solidFill>
                  <a:srgbClr val="FFFF00"/>
                </a:solidFill>
              </a:rPr>
              <a:t>OD Apply</a:t>
            </a:r>
          </a:p>
          <a:p>
            <a:pPr algn="ctr"/>
            <a:endParaRPr lang="en-IN" b="1" dirty="0">
              <a:solidFill>
                <a:srgbClr val="FFFF00"/>
              </a:solidFill>
            </a:endParaRPr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5743977" y="4100078"/>
            <a:ext cx="115910" cy="8382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00131" y="280388"/>
            <a:ext cx="463639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 smtClean="0">
                <a:solidFill>
                  <a:srgbClr val="0070C0"/>
                </a:solidFill>
              </a:rPr>
              <a:t>OD</a:t>
            </a:r>
            <a:r>
              <a:rPr lang="en-IN" sz="4000" b="1" dirty="0" smtClean="0">
                <a:solidFill>
                  <a:srgbClr val="0070C0"/>
                </a:solidFill>
              </a:rPr>
              <a:t>:</a:t>
            </a:r>
            <a:endParaRPr lang="zh-CN" altLang="en-US" sz="40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0070C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027574" y="3686950"/>
            <a:ext cx="2127749" cy="10837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">
              <a:lnSpc>
                <a:spcPct val="150000"/>
              </a:lnSpc>
            </a:pPr>
            <a:r>
              <a:rPr lang="en-IN" sz="2400" b="1" dirty="0">
                <a:solidFill>
                  <a:schemeClr val="bg1"/>
                </a:solidFill>
              </a:rPr>
              <a:t> </a:t>
            </a:r>
            <a:r>
              <a:rPr lang="en-IN" b="1" dirty="0">
                <a:solidFill>
                  <a:srgbClr val="FFFF00"/>
                </a:solidFill>
              </a:rPr>
              <a:t>OD Approvals</a:t>
            </a:r>
            <a:endParaRPr lang="en-IN" b="1" dirty="0">
              <a:solidFill>
                <a:srgbClr val="FFFF00"/>
              </a:solidFill>
            </a:endParaRPr>
          </a:p>
        </p:txBody>
      </p:sp>
      <p:cxnSp>
        <p:nvCxnSpPr>
          <p:cNvPr id="3" name="Straight Arrow Connector 2"/>
          <p:cNvCxnSpPr>
            <a:stCxn id="9" idx="1"/>
            <a:endCxn id="6" idx="3"/>
          </p:cNvCxnSpPr>
          <p:nvPr/>
        </p:nvCxnSpPr>
        <p:spPr>
          <a:xfrm flipH="1">
            <a:off x="3155323" y="3157622"/>
            <a:ext cx="862885" cy="10711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6178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13">
            <a:extLst>
              <a:ext uri="{FF2B5EF4-FFF2-40B4-BE49-F238E27FC236}">
                <a16:creationId xmlns:a16="http://schemas.microsoft.com/office/drawing/2014/main" id="{3B67659C-B6BA-483F-B276-585CB7941510}"/>
              </a:ext>
            </a:extLst>
          </p:cNvPr>
          <p:cNvSpPr/>
          <p:nvPr/>
        </p:nvSpPr>
        <p:spPr>
          <a:xfrm>
            <a:off x="3503054" y="2215166"/>
            <a:ext cx="3812146" cy="18849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">
              <a:lnSpc>
                <a:spcPct val="150000"/>
              </a:lnSpc>
            </a:pPr>
            <a:r>
              <a:rPr lang="en-IN" sz="2400" dirty="0"/>
              <a:t> </a:t>
            </a:r>
            <a:r>
              <a:rPr lang="en-IN" sz="2400" dirty="0" smtClean="0"/>
              <a:t>                   </a:t>
            </a:r>
            <a:endParaRPr lang="en-IN" sz="2400" dirty="0" smtClean="0"/>
          </a:p>
          <a:p>
            <a:pPr fontAlgn="b">
              <a:lnSpc>
                <a:spcPct val="150000"/>
              </a:lnSpc>
            </a:pPr>
            <a:r>
              <a:rPr lang="en-IN" sz="2400" b="1" dirty="0">
                <a:solidFill>
                  <a:schemeClr val="bg1"/>
                </a:solidFill>
              </a:rPr>
              <a:t> </a:t>
            </a:r>
            <a:r>
              <a:rPr lang="en-IN" sz="2400" b="1" dirty="0" smtClean="0">
                <a:solidFill>
                  <a:schemeClr val="bg1"/>
                </a:solidFill>
              </a:rPr>
              <a:t>                     </a:t>
            </a:r>
            <a:r>
              <a:rPr lang="en-US" sz="2400" b="1" dirty="0" smtClean="0">
                <a:solidFill>
                  <a:schemeClr val="bg1"/>
                </a:solidFill>
              </a:rPr>
              <a:t>LTC</a:t>
            </a:r>
            <a:endParaRPr lang="en-US" sz="2400" b="1" dirty="0" smtClean="0">
              <a:solidFill>
                <a:schemeClr val="bg1"/>
              </a:solidFill>
              <a:latin typeface="+mn-lt"/>
            </a:endParaRPr>
          </a:p>
          <a:p>
            <a:r>
              <a:rPr lang="en-IN" sz="2400" b="1" dirty="0" smtClean="0">
                <a:solidFill>
                  <a:srgbClr val="FFFF00"/>
                </a:solidFill>
              </a:rPr>
              <a:t> </a:t>
            </a:r>
            <a:r>
              <a:rPr lang="en-IN" sz="2400" b="1" dirty="0" smtClean="0">
                <a:solidFill>
                  <a:srgbClr val="FFFF00"/>
                </a:solidFill>
              </a:rPr>
              <a:t>            </a:t>
            </a:r>
            <a:r>
              <a:rPr lang="en-IN" sz="2400" b="1" dirty="0" smtClean="0">
                <a:solidFill>
                  <a:srgbClr val="FFFF00"/>
                </a:solidFill>
              </a:rPr>
              <a:t>LTC </a:t>
            </a:r>
            <a:r>
              <a:rPr lang="en-IN" sz="2400" b="1" dirty="0">
                <a:solidFill>
                  <a:srgbClr val="FFFF00"/>
                </a:solidFill>
              </a:rPr>
              <a:t>History</a:t>
            </a:r>
          </a:p>
          <a:p>
            <a:endParaRPr lang="en-IN" b="1" dirty="0">
              <a:solidFill>
                <a:srgbClr val="FFFF00"/>
              </a:solidFill>
            </a:endParaRPr>
          </a:p>
          <a:p>
            <a:pPr fontAlgn="b">
              <a:lnSpc>
                <a:spcPct val="150000"/>
              </a:lnSpc>
            </a:pPr>
            <a:endParaRPr lang="en-IN" sz="2400" b="1" dirty="0">
              <a:solidFill>
                <a:srgbClr val="FFFF00"/>
              </a:solidFill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5743977" y="4100078"/>
            <a:ext cx="38637" cy="838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00131" y="280388"/>
            <a:ext cx="463639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 smtClean="0">
                <a:solidFill>
                  <a:srgbClr val="0070C0"/>
                </a:solidFill>
                <a:latin typeface="+mn-lt"/>
              </a:rPr>
              <a:t>LTC</a:t>
            </a:r>
            <a:r>
              <a:rPr lang="en-IN" sz="4000" b="1" dirty="0" smtClean="0">
                <a:solidFill>
                  <a:srgbClr val="0070C0"/>
                </a:solidFill>
              </a:rPr>
              <a:t>:</a:t>
            </a:r>
            <a:endParaRPr lang="zh-CN" altLang="en-US" sz="40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0070C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8" name="Oval 7"/>
          <p:cNvSpPr/>
          <p:nvPr/>
        </p:nvSpPr>
        <p:spPr>
          <a:xfrm>
            <a:off x="3979573" y="4938346"/>
            <a:ext cx="2987898" cy="13980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FF00"/>
                </a:solidFill>
              </a:rPr>
              <a:t>LTC History</a:t>
            </a:r>
          </a:p>
        </p:txBody>
      </p:sp>
    </p:spTree>
    <p:extLst>
      <p:ext uri="{BB962C8B-B14F-4D97-AF65-F5344CB8AC3E}">
        <p14:creationId xmlns:p14="http://schemas.microsoft.com/office/powerpoint/2010/main" val="241966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13">
            <a:extLst>
              <a:ext uri="{FF2B5EF4-FFF2-40B4-BE49-F238E27FC236}">
                <a16:creationId xmlns:a16="http://schemas.microsoft.com/office/drawing/2014/main" id="{3B67659C-B6BA-483F-B276-585CB7941510}"/>
              </a:ext>
            </a:extLst>
          </p:cNvPr>
          <p:cNvSpPr/>
          <p:nvPr/>
        </p:nvSpPr>
        <p:spPr>
          <a:xfrm>
            <a:off x="4018207" y="2215166"/>
            <a:ext cx="3477297" cy="18849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">
              <a:lnSpc>
                <a:spcPct val="150000"/>
              </a:lnSpc>
            </a:pPr>
            <a:r>
              <a:rPr lang="en-IN" sz="2400" dirty="0"/>
              <a:t> </a:t>
            </a:r>
            <a:r>
              <a:rPr lang="en-IN" sz="2400" dirty="0" smtClean="0"/>
              <a:t>      </a:t>
            </a:r>
            <a:r>
              <a:rPr lang="en-IN" sz="2400" b="1" dirty="0" smtClean="0"/>
              <a:t>PL Encashment</a:t>
            </a:r>
            <a:endParaRPr lang="en-IN" sz="2400" b="1" dirty="0"/>
          </a:p>
          <a:p>
            <a:pPr algn="ctr"/>
            <a:r>
              <a:rPr lang="en-IN" sz="2000" b="1" dirty="0">
                <a:solidFill>
                  <a:srgbClr val="FFFF00"/>
                </a:solidFill>
              </a:rPr>
              <a:t>PL Encashment History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90822" y="4938347"/>
            <a:ext cx="2738130" cy="10031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 </a:t>
            </a:r>
            <a:endParaRPr lang="en-IN" sz="2400" b="1" dirty="0" smtClean="0">
              <a:solidFill>
                <a:schemeClr val="bg1"/>
              </a:solidFill>
            </a:endParaRPr>
          </a:p>
          <a:p>
            <a:pPr algn="ctr"/>
            <a:r>
              <a:rPr lang="en-IN" b="1" dirty="0" smtClean="0">
                <a:solidFill>
                  <a:srgbClr val="FFFF00"/>
                </a:solidFill>
              </a:rPr>
              <a:t>PL </a:t>
            </a:r>
            <a:r>
              <a:rPr lang="en-IN" b="1" dirty="0">
                <a:solidFill>
                  <a:srgbClr val="FFFF00"/>
                </a:solidFill>
              </a:rPr>
              <a:t>Encashment History</a:t>
            </a:r>
            <a:endParaRPr lang="en-IN" b="1" dirty="0" smtClean="0">
              <a:solidFill>
                <a:srgbClr val="FFFF00"/>
              </a:solidFill>
            </a:endParaRPr>
          </a:p>
          <a:p>
            <a:pPr algn="ctr"/>
            <a:endParaRPr lang="en-IN" b="1" dirty="0">
              <a:solidFill>
                <a:srgbClr val="FFFF00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5743977" y="4100078"/>
            <a:ext cx="115910" cy="8382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00131" y="280388"/>
            <a:ext cx="463639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000" b="1" dirty="0" smtClean="0">
                <a:solidFill>
                  <a:srgbClr val="0070C0"/>
                </a:solidFill>
              </a:rPr>
              <a:t>PL Encashment</a:t>
            </a:r>
            <a:r>
              <a:rPr lang="en-US" sz="4000" b="1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:</a:t>
            </a:r>
            <a:endParaRPr lang="zh-CN" altLang="en-US" sz="40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97037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52545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13">
            <a:extLst>
              <a:ext uri="{FF2B5EF4-FFF2-40B4-BE49-F238E27FC236}">
                <a16:creationId xmlns:a16="http://schemas.microsoft.com/office/drawing/2014/main" id="{3B67659C-B6BA-483F-B276-585CB7941510}"/>
              </a:ext>
            </a:extLst>
          </p:cNvPr>
          <p:cNvSpPr/>
          <p:nvPr/>
        </p:nvSpPr>
        <p:spPr>
          <a:xfrm>
            <a:off x="3503054" y="2215166"/>
            <a:ext cx="3812146" cy="18849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">
              <a:lnSpc>
                <a:spcPct val="150000"/>
              </a:lnSpc>
            </a:pPr>
            <a:r>
              <a:rPr lang="en-IN" sz="2400" dirty="0"/>
              <a:t> </a:t>
            </a:r>
            <a:r>
              <a:rPr lang="en-IN" sz="2400" dirty="0" smtClean="0"/>
              <a:t>                   </a:t>
            </a:r>
            <a:endParaRPr lang="en-IN" sz="2400" dirty="0" smtClean="0"/>
          </a:p>
          <a:p>
            <a:pPr fontAlgn="b">
              <a:lnSpc>
                <a:spcPct val="150000"/>
              </a:lnSpc>
            </a:pPr>
            <a:r>
              <a:rPr lang="en-IN" sz="2400" b="1" dirty="0">
                <a:solidFill>
                  <a:schemeClr val="bg1"/>
                </a:solidFill>
              </a:rPr>
              <a:t> </a:t>
            </a:r>
            <a:r>
              <a:rPr lang="en-IN" sz="2400" b="1" dirty="0" smtClean="0">
                <a:solidFill>
                  <a:schemeClr val="bg1"/>
                </a:solidFill>
              </a:rPr>
              <a:t>                     </a:t>
            </a:r>
            <a:r>
              <a:rPr lang="en-US" sz="2400" b="1" dirty="0" err="1">
                <a:solidFill>
                  <a:schemeClr val="bg1"/>
                </a:solidFill>
              </a:rPr>
              <a:t>WorkDiary</a:t>
            </a:r>
            <a:r>
              <a:rPr lang="en-IN" sz="2400" b="1" dirty="0" smtClean="0">
                <a:solidFill>
                  <a:srgbClr val="FFFF00"/>
                </a:solidFill>
              </a:rPr>
              <a:t>             </a:t>
            </a:r>
            <a:r>
              <a:rPr lang="en-IN" sz="2400" b="1" dirty="0" err="1" smtClean="0">
                <a:solidFill>
                  <a:srgbClr val="FFFF00"/>
                </a:solidFill>
              </a:rPr>
              <a:t>WorkDiaryApply</a:t>
            </a:r>
            <a:endParaRPr lang="en-IN" b="1" dirty="0">
              <a:solidFill>
                <a:srgbClr val="FFFF00"/>
              </a:solidFill>
            </a:endParaRPr>
          </a:p>
          <a:p>
            <a:pPr fontAlgn="b">
              <a:lnSpc>
                <a:spcPct val="150000"/>
              </a:lnSpc>
            </a:pPr>
            <a:endParaRPr lang="en-IN" sz="2400" b="1" dirty="0">
              <a:solidFill>
                <a:srgbClr val="FFFF00"/>
              </a:solidFill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5743977" y="4100078"/>
            <a:ext cx="38637" cy="838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00131" y="280388"/>
            <a:ext cx="463639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 err="1" smtClean="0">
                <a:solidFill>
                  <a:srgbClr val="0070C0"/>
                </a:solidFill>
              </a:rPr>
              <a:t>WorkDiary</a:t>
            </a:r>
            <a:r>
              <a:rPr lang="en-IN" sz="4000" b="1" dirty="0" smtClean="0">
                <a:solidFill>
                  <a:srgbClr val="0070C0"/>
                </a:solidFill>
              </a:rPr>
              <a:t>:</a:t>
            </a:r>
            <a:endParaRPr lang="zh-CN" altLang="en-US" sz="40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0070C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7" name="Oval 6"/>
          <p:cNvSpPr/>
          <p:nvPr/>
        </p:nvSpPr>
        <p:spPr>
          <a:xfrm>
            <a:off x="3979573" y="4938346"/>
            <a:ext cx="2987898" cy="13980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err="1" smtClean="0">
                <a:solidFill>
                  <a:srgbClr val="FFFF00"/>
                </a:solidFill>
              </a:rPr>
              <a:t>WorkDiaryApply</a:t>
            </a:r>
            <a:endParaRPr lang="en-IN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99908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F510E21-D969-47F1-B374-4FC1D7EE4BE3}"/>
              </a:ext>
            </a:extLst>
          </p:cNvPr>
          <p:cNvSpPr txBox="1">
            <a:spLocks/>
          </p:cNvSpPr>
          <p:nvPr/>
        </p:nvSpPr>
        <p:spPr>
          <a:xfrm>
            <a:off x="819806" y="977467"/>
            <a:ext cx="7325711" cy="629569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b">
              <a:lnSpc>
                <a:spcPct val="150000"/>
              </a:lnSpc>
            </a:pPr>
            <a:endParaRPr lang="en-IN" sz="1200" dirty="0">
              <a:solidFill>
                <a:srgbClr val="970370"/>
              </a:solidFill>
              <a:latin typeface="+mn-lt"/>
            </a:endParaRPr>
          </a:p>
        </p:txBody>
      </p:sp>
      <p:sp>
        <p:nvSpPr>
          <p:cNvPr id="5" name="矩形 1">
            <a:extLst>
              <a:ext uri="{FF2B5EF4-FFF2-40B4-BE49-F238E27FC236}">
                <a16:creationId xmlns:a16="http://schemas.microsoft.com/office/drawing/2014/main" id="{BD2EF748-6FC5-4760-9A52-3DF946EEEA58}"/>
              </a:ext>
            </a:extLst>
          </p:cNvPr>
          <p:cNvSpPr/>
          <p:nvPr/>
        </p:nvSpPr>
        <p:spPr>
          <a:xfrm>
            <a:off x="651641" y="199697"/>
            <a:ext cx="632796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IN" sz="4400" b="1" dirty="0" smtClean="0">
                <a:solidFill>
                  <a:srgbClr val="0070C0"/>
                </a:solidFill>
              </a:rPr>
              <a:t>Admin</a:t>
            </a:r>
            <a:endParaRPr lang="zh-CN" altLang="en-US" sz="4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0070C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6" name="Rectangle: Rounded Corners 13">
            <a:extLst>
              <a:ext uri="{FF2B5EF4-FFF2-40B4-BE49-F238E27FC236}">
                <a16:creationId xmlns:a16="http://schemas.microsoft.com/office/drawing/2014/main" id="{3B67659C-B6BA-483F-B276-585CB7941510}"/>
              </a:ext>
            </a:extLst>
          </p:cNvPr>
          <p:cNvSpPr/>
          <p:nvPr/>
        </p:nvSpPr>
        <p:spPr>
          <a:xfrm>
            <a:off x="4018207" y="2215166"/>
            <a:ext cx="3477297" cy="18849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">
              <a:lnSpc>
                <a:spcPct val="150000"/>
              </a:lnSpc>
            </a:pPr>
            <a:r>
              <a:rPr lang="en-IN" sz="2400" dirty="0"/>
              <a:t> </a:t>
            </a:r>
            <a:r>
              <a:rPr lang="en-IN" sz="2400" dirty="0" smtClean="0"/>
              <a:t>      </a:t>
            </a:r>
            <a:r>
              <a:rPr lang="en-IN" sz="2400" b="1" dirty="0" smtClean="0"/>
              <a:t>PL Encashment</a:t>
            </a:r>
            <a:endParaRPr lang="en-IN" sz="2400" b="1" dirty="0"/>
          </a:p>
          <a:p>
            <a:pPr algn="ctr"/>
            <a:r>
              <a:rPr lang="en-IN" sz="2000" b="1" dirty="0">
                <a:solidFill>
                  <a:srgbClr val="FFFF00"/>
                </a:solidFill>
              </a:rPr>
              <a:t>PL Encashment History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90822" y="4938347"/>
            <a:ext cx="2738130" cy="10031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 </a:t>
            </a:r>
            <a:endParaRPr lang="en-IN" sz="2400" b="1" dirty="0" smtClean="0">
              <a:solidFill>
                <a:schemeClr val="bg1"/>
              </a:solidFill>
            </a:endParaRPr>
          </a:p>
          <a:p>
            <a:pPr algn="ctr"/>
            <a:r>
              <a:rPr lang="en-IN" b="1" dirty="0" smtClean="0">
                <a:solidFill>
                  <a:srgbClr val="FFFF00"/>
                </a:solidFill>
              </a:rPr>
              <a:t>PL </a:t>
            </a:r>
            <a:r>
              <a:rPr lang="en-IN" b="1" dirty="0">
                <a:solidFill>
                  <a:srgbClr val="FFFF00"/>
                </a:solidFill>
              </a:rPr>
              <a:t>Encashment History</a:t>
            </a:r>
            <a:endParaRPr lang="en-IN" b="1" dirty="0" smtClean="0">
              <a:solidFill>
                <a:srgbClr val="FFFF00"/>
              </a:solidFill>
            </a:endParaRPr>
          </a:p>
          <a:p>
            <a:pPr algn="ctr"/>
            <a:endParaRPr lang="en-IN" b="1" dirty="0">
              <a:solidFill>
                <a:srgbClr val="FFFF00"/>
              </a:solidFill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5743977" y="4100078"/>
            <a:ext cx="115910" cy="8382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9250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F510E21-D969-47F1-B374-4FC1D7EE4BE3}"/>
              </a:ext>
            </a:extLst>
          </p:cNvPr>
          <p:cNvSpPr txBox="1">
            <a:spLocks/>
          </p:cNvSpPr>
          <p:nvPr/>
        </p:nvSpPr>
        <p:spPr>
          <a:xfrm>
            <a:off x="819806" y="977467"/>
            <a:ext cx="7325711" cy="629569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b">
              <a:lnSpc>
                <a:spcPct val="150000"/>
              </a:lnSpc>
            </a:pPr>
            <a:endParaRPr lang="en-IN" sz="1200" dirty="0">
              <a:solidFill>
                <a:srgbClr val="970370"/>
              </a:solidFill>
              <a:latin typeface="+mn-lt"/>
            </a:endParaRPr>
          </a:p>
        </p:txBody>
      </p:sp>
      <p:sp>
        <p:nvSpPr>
          <p:cNvPr id="5" name="矩形 1">
            <a:extLst>
              <a:ext uri="{FF2B5EF4-FFF2-40B4-BE49-F238E27FC236}">
                <a16:creationId xmlns:a16="http://schemas.microsoft.com/office/drawing/2014/main" id="{BD2EF748-6FC5-4760-9A52-3DF946EEEA58}"/>
              </a:ext>
            </a:extLst>
          </p:cNvPr>
          <p:cNvSpPr/>
          <p:nvPr/>
        </p:nvSpPr>
        <p:spPr>
          <a:xfrm>
            <a:off x="651641" y="199697"/>
            <a:ext cx="632796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IN" sz="4400" b="1" dirty="0" smtClean="0">
                <a:solidFill>
                  <a:srgbClr val="0070C0"/>
                </a:solidFill>
              </a:rPr>
              <a:t>Admin</a:t>
            </a:r>
            <a:endParaRPr lang="zh-CN" altLang="en-US" sz="4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0070C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6" name="Rectangle: Rounded Corners 13">
            <a:extLst>
              <a:ext uri="{FF2B5EF4-FFF2-40B4-BE49-F238E27FC236}">
                <a16:creationId xmlns:a16="http://schemas.microsoft.com/office/drawing/2014/main" id="{3B67659C-B6BA-483F-B276-585CB7941510}"/>
              </a:ext>
            </a:extLst>
          </p:cNvPr>
          <p:cNvSpPr/>
          <p:nvPr/>
        </p:nvSpPr>
        <p:spPr>
          <a:xfrm>
            <a:off x="3190444" y="1249494"/>
            <a:ext cx="5808371" cy="35975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">
              <a:lnSpc>
                <a:spcPct val="150000"/>
              </a:lnSpc>
            </a:pPr>
            <a:r>
              <a:rPr lang="en-IN" sz="2400" b="1" dirty="0" smtClean="0"/>
              <a:t>                                  Admin</a:t>
            </a:r>
            <a:r>
              <a:rPr lang="en-IN" sz="2400" b="1" dirty="0" smtClean="0"/>
              <a:t> </a:t>
            </a:r>
            <a:r>
              <a:rPr lang="en-IN" sz="1200" dirty="0" smtClean="0"/>
              <a:t>     </a:t>
            </a:r>
          </a:p>
          <a:p>
            <a:pPr algn="ctr" fontAlgn="b">
              <a:lnSpc>
                <a:spcPct val="150000"/>
              </a:lnSpc>
            </a:pPr>
            <a:r>
              <a:rPr lang="en-IN" sz="1200" dirty="0" smtClean="0"/>
              <a:t> </a:t>
            </a:r>
            <a:r>
              <a:rPr lang="en-US" sz="1200" b="1" dirty="0">
                <a:solidFill>
                  <a:srgbClr val="FFFF00"/>
                </a:solidFill>
              </a:rPr>
              <a:t>Employee Registration</a:t>
            </a:r>
          </a:p>
          <a:p>
            <a:pPr algn="ctr" fontAlgn="b">
              <a:lnSpc>
                <a:spcPct val="150000"/>
              </a:lnSpc>
            </a:pPr>
            <a:r>
              <a:rPr lang="en-US" sz="1200" b="1" dirty="0">
                <a:solidFill>
                  <a:srgbClr val="FFFF00"/>
                </a:solidFill>
              </a:rPr>
              <a:t>Transfer/Promotions</a:t>
            </a:r>
          </a:p>
          <a:p>
            <a:pPr algn="ctr" fontAlgn="b">
              <a:lnSpc>
                <a:spcPct val="150000"/>
              </a:lnSpc>
            </a:pPr>
            <a:r>
              <a:rPr lang="en-US" sz="1200" b="1" dirty="0">
                <a:solidFill>
                  <a:srgbClr val="FFFF00"/>
                </a:solidFill>
              </a:rPr>
              <a:t>Change Authority</a:t>
            </a:r>
          </a:p>
          <a:p>
            <a:pPr algn="ctr" fontAlgn="b">
              <a:lnSpc>
                <a:spcPct val="150000"/>
              </a:lnSpc>
            </a:pPr>
            <a:r>
              <a:rPr lang="en-US" sz="1200" b="1" dirty="0">
                <a:solidFill>
                  <a:srgbClr val="FFFF00"/>
                </a:solidFill>
              </a:rPr>
              <a:t>Change Profile</a:t>
            </a:r>
          </a:p>
          <a:p>
            <a:pPr algn="ctr" fontAlgn="b">
              <a:lnSpc>
                <a:spcPct val="150000"/>
              </a:lnSpc>
            </a:pPr>
            <a:r>
              <a:rPr lang="en-US" sz="1200" b="1" dirty="0">
                <a:solidFill>
                  <a:srgbClr val="FFFF00"/>
                </a:solidFill>
              </a:rPr>
              <a:t>Apply LTC</a:t>
            </a:r>
          </a:p>
          <a:p>
            <a:pPr algn="ctr" fontAlgn="b">
              <a:lnSpc>
                <a:spcPct val="150000"/>
              </a:lnSpc>
            </a:pPr>
            <a:r>
              <a:rPr lang="en-US" sz="1200" b="1" dirty="0">
                <a:solidFill>
                  <a:srgbClr val="FFFF00"/>
                </a:solidFill>
              </a:rPr>
              <a:t>Apply PL Encashment</a:t>
            </a:r>
          </a:p>
          <a:p>
            <a:pPr algn="ctr" fontAlgn="b">
              <a:lnSpc>
                <a:spcPct val="150000"/>
              </a:lnSpc>
            </a:pPr>
            <a:r>
              <a:rPr lang="en-US" sz="1200" b="1" dirty="0">
                <a:solidFill>
                  <a:srgbClr val="FFFF00"/>
                </a:solidFill>
              </a:rPr>
              <a:t>Delete Work Dairy</a:t>
            </a:r>
          </a:p>
          <a:p>
            <a:pPr algn="ctr" fontAlgn="b">
              <a:lnSpc>
                <a:spcPct val="150000"/>
              </a:lnSpc>
            </a:pPr>
            <a:r>
              <a:rPr lang="en-US" sz="1200" b="1" dirty="0">
                <a:solidFill>
                  <a:srgbClr val="FFFF00"/>
                </a:solidFill>
              </a:rPr>
              <a:t>User Roles</a:t>
            </a:r>
          </a:p>
          <a:p>
            <a:pPr algn="ctr" fontAlgn="b">
              <a:lnSpc>
                <a:spcPct val="150000"/>
              </a:lnSpc>
            </a:pPr>
            <a:r>
              <a:rPr lang="en-US" sz="1200" b="1" dirty="0">
                <a:solidFill>
                  <a:srgbClr val="FFFF00"/>
                </a:solidFill>
              </a:rPr>
              <a:t>Change Branch Manager</a:t>
            </a:r>
          </a:p>
          <a:p>
            <a:pPr algn="ctr" fontAlgn="b">
              <a:lnSpc>
                <a:spcPct val="150000"/>
              </a:lnSpc>
            </a:pPr>
            <a:r>
              <a:rPr lang="en-US" sz="1200" b="1" dirty="0" err="1">
                <a:solidFill>
                  <a:srgbClr val="FFFF00"/>
                </a:solidFill>
              </a:rPr>
              <a:t>TimeSheet</a:t>
            </a:r>
            <a:r>
              <a:rPr lang="en-US" sz="1200" b="1" dirty="0">
                <a:solidFill>
                  <a:srgbClr val="FFFF00"/>
                </a:solidFill>
              </a:rPr>
              <a:t> Manual </a:t>
            </a:r>
            <a:r>
              <a:rPr lang="en-US" sz="1200" b="1" dirty="0" smtClean="0">
                <a:solidFill>
                  <a:srgbClr val="FFFF00"/>
                </a:solidFill>
              </a:rPr>
              <a:t>Form</a:t>
            </a:r>
            <a:endParaRPr lang="en-US" sz="1200" b="1" dirty="0">
              <a:solidFill>
                <a:srgbClr val="FFFF00"/>
              </a:solidFill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5743977" y="4100078"/>
            <a:ext cx="115910" cy="8382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17148" y="4175091"/>
            <a:ext cx="2696794" cy="13980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">
              <a:lnSpc>
                <a:spcPct val="150000"/>
              </a:lnSpc>
            </a:pPr>
            <a:r>
              <a:rPr lang="en-US" b="1" dirty="0">
                <a:solidFill>
                  <a:srgbClr val="FFFF00"/>
                </a:solidFill>
              </a:rPr>
              <a:t>Change Authority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4344470" y="5261541"/>
            <a:ext cx="2331077" cy="13980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">
              <a:lnSpc>
                <a:spcPct val="150000"/>
              </a:lnSpc>
            </a:pPr>
            <a:r>
              <a:rPr lang="en-US" b="1" dirty="0">
                <a:solidFill>
                  <a:srgbClr val="FFFF00"/>
                </a:solidFill>
              </a:rPr>
              <a:t>Apply LTC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20" name="Oval 19"/>
          <p:cNvSpPr/>
          <p:nvPr/>
        </p:nvSpPr>
        <p:spPr>
          <a:xfrm>
            <a:off x="7070094" y="5325471"/>
            <a:ext cx="2560750" cy="13980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">
              <a:lnSpc>
                <a:spcPct val="150000"/>
              </a:lnSpc>
            </a:pPr>
            <a:r>
              <a:rPr lang="en-US" b="1" dirty="0">
                <a:solidFill>
                  <a:srgbClr val="FFFF00"/>
                </a:solidFill>
              </a:rPr>
              <a:t>Apply PL Encashment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540653" y="872941"/>
            <a:ext cx="2444839" cy="13980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 </a:t>
            </a:r>
            <a:r>
              <a:rPr lang="en-US" b="1" dirty="0">
                <a:solidFill>
                  <a:srgbClr val="FFFF00"/>
                </a:solidFill>
              </a:rPr>
              <a:t>Employee Registration</a:t>
            </a:r>
            <a:endParaRPr lang="en-IN" b="1" dirty="0">
              <a:solidFill>
                <a:srgbClr val="FFFF00"/>
              </a:solidFill>
            </a:endParaRPr>
          </a:p>
        </p:txBody>
      </p:sp>
      <p:sp>
        <p:nvSpPr>
          <p:cNvPr id="22" name="Oval 21"/>
          <p:cNvSpPr/>
          <p:nvPr/>
        </p:nvSpPr>
        <p:spPr>
          <a:xfrm>
            <a:off x="8558065" y="66190"/>
            <a:ext cx="3633935" cy="13980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">
              <a:lnSpc>
                <a:spcPct val="150000"/>
              </a:lnSpc>
            </a:pPr>
            <a:r>
              <a:rPr lang="en-US" b="1" dirty="0" err="1">
                <a:solidFill>
                  <a:srgbClr val="FFFF00"/>
                </a:solidFill>
              </a:rPr>
              <a:t>TimeSheet</a:t>
            </a:r>
            <a:r>
              <a:rPr lang="en-US" b="1" dirty="0">
                <a:solidFill>
                  <a:srgbClr val="FFFF00"/>
                </a:solidFill>
              </a:rPr>
              <a:t> Manual Form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23" name="Oval 22"/>
          <p:cNvSpPr/>
          <p:nvPr/>
        </p:nvSpPr>
        <p:spPr>
          <a:xfrm>
            <a:off x="0" y="2443477"/>
            <a:ext cx="3080902" cy="13980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">
              <a:lnSpc>
                <a:spcPct val="150000"/>
              </a:lnSpc>
            </a:pPr>
            <a:r>
              <a:rPr lang="en-US" b="1" dirty="0">
                <a:solidFill>
                  <a:srgbClr val="FFFF00"/>
                </a:solidFill>
              </a:rPr>
              <a:t>Transfer/Promotions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24" name="Oval 23"/>
          <p:cNvSpPr/>
          <p:nvPr/>
        </p:nvSpPr>
        <p:spPr>
          <a:xfrm>
            <a:off x="1540451" y="5514119"/>
            <a:ext cx="2546982" cy="12943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 smtClean="0">
              <a:solidFill>
                <a:srgbClr val="FFFF00"/>
              </a:solidFill>
            </a:endParaRPr>
          </a:p>
          <a:p>
            <a:pPr algn="ctr"/>
            <a:r>
              <a:rPr lang="en-US" b="1" dirty="0" smtClean="0">
                <a:solidFill>
                  <a:srgbClr val="FFFF00"/>
                </a:solidFill>
              </a:rPr>
              <a:t>Change </a:t>
            </a:r>
            <a:r>
              <a:rPr lang="en-US" b="1" dirty="0">
                <a:solidFill>
                  <a:srgbClr val="FFFF00"/>
                </a:solidFill>
              </a:rPr>
              <a:t>Profile</a:t>
            </a:r>
          </a:p>
          <a:p>
            <a:pPr algn="ctr"/>
            <a:endParaRPr lang="en-IN" b="1" dirty="0">
              <a:solidFill>
                <a:srgbClr val="FFFF00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9641983" y="4763224"/>
            <a:ext cx="2550017" cy="13980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">
              <a:lnSpc>
                <a:spcPct val="150000"/>
              </a:lnSpc>
            </a:pPr>
            <a:r>
              <a:rPr lang="en-US" b="1" dirty="0">
                <a:solidFill>
                  <a:srgbClr val="FFFF00"/>
                </a:solidFill>
              </a:rPr>
              <a:t>Delete Work Dairy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26" name="Oval 25"/>
          <p:cNvSpPr/>
          <p:nvPr/>
        </p:nvSpPr>
        <p:spPr>
          <a:xfrm>
            <a:off x="9479403" y="3121153"/>
            <a:ext cx="2547871" cy="13980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">
              <a:lnSpc>
                <a:spcPct val="150000"/>
              </a:lnSpc>
            </a:pPr>
            <a:r>
              <a:rPr lang="en-US" b="1" dirty="0">
                <a:solidFill>
                  <a:srgbClr val="FFFF00"/>
                </a:solidFill>
              </a:rPr>
              <a:t>User Roles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9500716" y="1550531"/>
            <a:ext cx="2557277" cy="13980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Change Branch Manager</a:t>
            </a:r>
          </a:p>
          <a:p>
            <a:pPr algn="ctr"/>
            <a:endParaRPr lang="en-IN" b="1" dirty="0">
              <a:solidFill>
                <a:srgbClr val="FFFF00"/>
              </a:solidFill>
            </a:endParaRPr>
          </a:p>
        </p:txBody>
      </p:sp>
      <p:cxnSp>
        <p:nvCxnSpPr>
          <p:cNvPr id="29" name="Straight Arrow Connector 28"/>
          <p:cNvCxnSpPr>
            <a:endCxn id="23" idx="7"/>
          </p:cNvCxnSpPr>
          <p:nvPr/>
        </p:nvCxnSpPr>
        <p:spPr>
          <a:xfrm flipH="1">
            <a:off x="2629714" y="2443477"/>
            <a:ext cx="560730" cy="204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2705127" y="4426543"/>
            <a:ext cx="560730" cy="204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>
            <a:off x="3676392" y="4849533"/>
            <a:ext cx="341448" cy="7236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6" idx="2"/>
          </p:cNvCxnSpPr>
          <p:nvPr/>
        </p:nvCxnSpPr>
        <p:spPr>
          <a:xfrm flipH="1">
            <a:off x="6010747" y="4847009"/>
            <a:ext cx="83883" cy="4784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7495353" y="4855338"/>
            <a:ext cx="399396" cy="4701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8942272" y="4519212"/>
            <a:ext cx="869522" cy="5670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V="1">
            <a:off x="9039073" y="4100078"/>
            <a:ext cx="440330" cy="252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6" idx="3"/>
          </p:cNvCxnSpPr>
          <p:nvPr/>
        </p:nvCxnSpPr>
        <p:spPr>
          <a:xfrm flipV="1">
            <a:off x="8998815" y="2545847"/>
            <a:ext cx="523129" cy="502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V="1">
            <a:off x="8942272" y="1342469"/>
            <a:ext cx="116562" cy="199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3029687" y="1400833"/>
            <a:ext cx="368353" cy="66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39144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F510E21-D969-47F1-B374-4FC1D7EE4BE3}"/>
              </a:ext>
            </a:extLst>
          </p:cNvPr>
          <p:cNvSpPr txBox="1">
            <a:spLocks/>
          </p:cNvSpPr>
          <p:nvPr/>
        </p:nvSpPr>
        <p:spPr>
          <a:xfrm>
            <a:off x="819806" y="977467"/>
            <a:ext cx="7325711" cy="629569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b">
              <a:lnSpc>
                <a:spcPct val="150000"/>
              </a:lnSpc>
            </a:pPr>
            <a:endParaRPr lang="en-IN" sz="1200" dirty="0">
              <a:solidFill>
                <a:srgbClr val="970370"/>
              </a:solidFill>
              <a:latin typeface="+mn-lt"/>
            </a:endParaRPr>
          </a:p>
        </p:txBody>
      </p:sp>
      <p:sp>
        <p:nvSpPr>
          <p:cNvPr id="5" name="矩形 1">
            <a:extLst>
              <a:ext uri="{FF2B5EF4-FFF2-40B4-BE49-F238E27FC236}">
                <a16:creationId xmlns:a16="http://schemas.microsoft.com/office/drawing/2014/main" id="{BD2EF748-6FC5-4760-9A52-3DF946EEEA58}"/>
              </a:ext>
            </a:extLst>
          </p:cNvPr>
          <p:cNvSpPr/>
          <p:nvPr/>
        </p:nvSpPr>
        <p:spPr>
          <a:xfrm>
            <a:off x="651641" y="199697"/>
            <a:ext cx="632796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IN" altLang="zh-CN" sz="4400" b="1" dirty="0" smtClean="0">
                <a:solidFill>
                  <a:srgbClr val="0070C0"/>
                </a:solidFill>
              </a:rPr>
              <a:t>Masters:</a:t>
            </a:r>
            <a:endParaRPr lang="zh-CN" altLang="en-US" sz="4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0070C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6" name="Rectangle: Rounded Corners 13">
            <a:extLst>
              <a:ext uri="{FF2B5EF4-FFF2-40B4-BE49-F238E27FC236}">
                <a16:creationId xmlns:a16="http://schemas.microsoft.com/office/drawing/2014/main" id="{3B67659C-B6BA-483F-B276-585CB7941510}"/>
              </a:ext>
            </a:extLst>
          </p:cNvPr>
          <p:cNvSpPr/>
          <p:nvPr/>
        </p:nvSpPr>
        <p:spPr>
          <a:xfrm>
            <a:off x="3190444" y="1249494"/>
            <a:ext cx="5774879" cy="3836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">
              <a:lnSpc>
                <a:spcPct val="150000"/>
              </a:lnSpc>
            </a:pPr>
            <a:r>
              <a:rPr lang="en-IN" sz="2400" b="1" dirty="0" smtClean="0"/>
              <a:t>                                Masters</a:t>
            </a:r>
            <a:r>
              <a:rPr lang="en-IN" sz="1200" dirty="0" smtClean="0"/>
              <a:t>     </a:t>
            </a:r>
          </a:p>
          <a:p>
            <a:pPr algn="ctr" fontAlgn="b">
              <a:lnSpc>
                <a:spcPct val="150000"/>
              </a:lnSpc>
            </a:pPr>
            <a:r>
              <a:rPr lang="en-US" sz="1200" dirty="0">
                <a:solidFill>
                  <a:srgbClr val="FFFF00"/>
                </a:solidFill>
              </a:rPr>
              <a:t>Bank</a:t>
            </a:r>
          </a:p>
          <a:p>
            <a:pPr algn="ctr" fontAlgn="b">
              <a:lnSpc>
                <a:spcPct val="150000"/>
              </a:lnSpc>
            </a:pPr>
            <a:r>
              <a:rPr lang="en-US" sz="1200" dirty="0">
                <a:solidFill>
                  <a:srgbClr val="FFFF00"/>
                </a:solidFill>
              </a:rPr>
              <a:t>Branch</a:t>
            </a:r>
          </a:p>
          <a:p>
            <a:pPr algn="ctr" fontAlgn="b">
              <a:lnSpc>
                <a:spcPct val="150000"/>
              </a:lnSpc>
            </a:pPr>
            <a:r>
              <a:rPr lang="en-US" sz="1200" dirty="0">
                <a:solidFill>
                  <a:srgbClr val="FFFF00"/>
                </a:solidFill>
              </a:rPr>
              <a:t>Department</a:t>
            </a:r>
          </a:p>
          <a:p>
            <a:pPr algn="ctr" fontAlgn="b">
              <a:lnSpc>
                <a:spcPct val="150000"/>
              </a:lnSpc>
            </a:pPr>
            <a:r>
              <a:rPr lang="en-US" sz="1200" dirty="0">
                <a:solidFill>
                  <a:srgbClr val="FFFF00"/>
                </a:solidFill>
              </a:rPr>
              <a:t>Designation</a:t>
            </a:r>
          </a:p>
          <a:p>
            <a:pPr algn="ctr" fontAlgn="b">
              <a:lnSpc>
                <a:spcPct val="150000"/>
              </a:lnSpc>
            </a:pPr>
            <a:r>
              <a:rPr lang="en-US" sz="1200" dirty="0">
                <a:solidFill>
                  <a:srgbClr val="FFFF00"/>
                </a:solidFill>
              </a:rPr>
              <a:t>Role</a:t>
            </a:r>
          </a:p>
          <a:p>
            <a:pPr algn="ctr" fontAlgn="b">
              <a:lnSpc>
                <a:spcPct val="150000"/>
              </a:lnSpc>
            </a:pPr>
            <a:r>
              <a:rPr lang="en-US" sz="1200" dirty="0" err="1">
                <a:solidFill>
                  <a:srgbClr val="FFFF00"/>
                </a:solidFill>
              </a:rPr>
              <a:t>LeaveType</a:t>
            </a:r>
            <a:endParaRPr lang="en-US" sz="1200" dirty="0">
              <a:solidFill>
                <a:srgbClr val="FFFF00"/>
              </a:solidFill>
            </a:endParaRPr>
          </a:p>
          <a:p>
            <a:pPr algn="ctr" fontAlgn="b">
              <a:lnSpc>
                <a:spcPct val="150000"/>
              </a:lnSpc>
            </a:pPr>
            <a:r>
              <a:rPr lang="en-US" sz="1200" dirty="0" err="1">
                <a:solidFill>
                  <a:srgbClr val="FFFF00"/>
                </a:solidFill>
              </a:rPr>
              <a:t>HolidayList</a:t>
            </a:r>
            <a:endParaRPr lang="en-US" sz="1200" dirty="0">
              <a:solidFill>
                <a:srgbClr val="FFFF00"/>
              </a:solidFill>
            </a:endParaRPr>
          </a:p>
          <a:p>
            <a:pPr algn="ctr" fontAlgn="b">
              <a:lnSpc>
                <a:spcPct val="150000"/>
              </a:lnSpc>
            </a:pPr>
            <a:r>
              <a:rPr lang="en-US" sz="1200" dirty="0">
                <a:solidFill>
                  <a:srgbClr val="FFFF00"/>
                </a:solidFill>
              </a:rPr>
              <a:t>Credit / Debit leaves</a:t>
            </a:r>
          </a:p>
          <a:p>
            <a:pPr algn="ctr" fontAlgn="b">
              <a:lnSpc>
                <a:spcPct val="150000"/>
              </a:lnSpc>
            </a:pPr>
            <a:r>
              <a:rPr lang="en-US" sz="1200" dirty="0">
                <a:solidFill>
                  <a:srgbClr val="FFFF00"/>
                </a:solidFill>
              </a:rPr>
              <a:t>Branch Category</a:t>
            </a:r>
          </a:p>
          <a:p>
            <a:pPr algn="ctr" fontAlgn="b">
              <a:lnSpc>
                <a:spcPct val="150000"/>
              </a:lnSpc>
            </a:pPr>
            <a:r>
              <a:rPr lang="en-US" sz="1200" dirty="0">
                <a:solidFill>
                  <a:srgbClr val="FFFF00"/>
                </a:solidFill>
              </a:rPr>
              <a:t>Other Duty</a:t>
            </a:r>
          </a:p>
          <a:p>
            <a:pPr algn="ctr" fontAlgn="b">
              <a:lnSpc>
                <a:spcPct val="150000"/>
              </a:lnSpc>
            </a:pPr>
            <a:r>
              <a:rPr lang="en-US" sz="1200" dirty="0" err="1">
                <a:solidFill>
                  <a:srgbClr val="FFFF00"/>
                </a:solidFill>
              </a:rPr>
              <a:t>BlockPeriod</a:t>
            </a:r>
            <a:endParaRPr lang="en-US" sz="1200" dirty="0">
              <a:solidFill>
                <a:srgbClr val="FFFF00"/>
              </a:solidFill>
            </a:endParaRPr>
          </a:p>
          <a:p>
            <a:pPr algn="ctr" fontAlgn="b">
              <a:lnSpc>
                <a:spcPct val="150000"/>
              </a:lnSpc>
            </a:pPr>
            <a:r>
              <a:rPr lang="en-US" sz="1200" dirty="0">
                <a:solidFill>
                  <a:srgbClr val="FFFF00"/>
                </a:solidFill>
              </a:rPr>
              <a:t>News</a:t>
            </a:r>
            <a:endParaRPr lang="en-US" sz="1200" b="1" dirty="0">
              <a:solidFill>
                <a:srgbClr val="FFFF00"/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5715595" y="4151594"/>
            <a:ext cx="115910" cy="8382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804170" y="3412866"/>
            <a:ext cx="2162301" cy="13980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">
              <a:lnSpc>
                <a:spcPct val="150000"/>
              </a:lnSpc>
            </a:pPr>
            <a:r>
              <a:rPr lang="en-US" dirty="0">
                <a:solidFill>
                  <a:srgbClr val="FFFF00"/>
                </a:solidFill>
              </a:rPr>
              <a:t>Department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2093845" y="5487883"/>
            <a:ext cx="1969625" cy="13980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">
              <a:lnSpc>
                <a:spcPct val="150000"/>
              </a:lnSpc>
            </a:pPr>
            <a:r>
              <a:rPr lang="en-US" dirty="0">
                <a:solidFill>
                  <a:srgbClr val="FFFF00"/>
                </a:solidFill>
              </a:rPr>
              <a:t>Role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4386839" y="5445846"/>
            <a:ext cx="2193650" cy="13980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">
              <a:lnSpc>
                <a:spcPct val="150000"/>
              </a:lnSpc>
            </a:pPr>
            <a:r>
              <a:rPr lang="en-US" dirty="0" err="1">
                <a:solidFill>
                  <a:srgbClr val="FFFF00"/>
                </a:solidFill>
              </a:rPr>
              <a:t>LeaveType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1171977" y="849112"/>
            <a:ext cx="1843736" cy="13018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">
              <a:lnSpc>
                <a:spcPct val="150000"/>
              </a:lnSpc>
            </a:pPr>
            <a:r>
              <a:rPr lang="en-IN" dirty="0"/>
              <a:t> </a:t>
            </a:r>
            <a:r>
              <a:rPr lang="en-US" dirty="0">
                <a:solidFill>
                  <a:srgbClr val="FFFF00"/>
                </a:solidFill>
              </a:rPr>
              <a:t>Bank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9381593" y="2611320"/>
            <a:ext cx="2132799" cy="13980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">
              <a:lnSpc>
                <a:spcPct val="150000"/>
              </a:lnSpc>
            </a:pPr>
            <a:r>
              <a:rPr lang="en-US" dirty="0" smtClean="0">
                <a:solidFill>
                  <a:srgbClr val="FFFF00"/>
                </a:solidFill>
              </a:rPr>
              <a:t>Other Duty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-6959" y="2059052"/>
            <a:ext cx="2229663" cy="13980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">
              <a:lnSpc>
                <a:spcPct val="150000"/>
              </a:lnSpc>
            </a:pPr>
            <a:r>
              <a:rPr lang="en-US" dirty="0">
                <a:solidFill>
                  <a:srgbClr val="FFFF00"/>
                </a:solidFill>
              </a:rPr>
              <a:t>Branch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47843" y="4798683"/>
            <a:ext cx="2191255" cy="12943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 smtClean="0">
              <a:solidFill>
                <a:srgbClr val="FFFF00"/>
              </a:solidFill>
            </a:endParaRPr>
          </a:p>
          <a:p>
            <a:pPr algn="ctr" fontAlgn="b">
              <a:lnSpc>
                <a:spcPct val="150000"/>
              </a:lnSpc>
            </a:pPr>
            <a:r>
              <a:rPr lang="en-US" dirty="0">
                <a:solidFill>
                  <a:srgbClr val="FFFF00"/>
                </a:solidFill>
              </a:rPr>
              <a:t>Designation</a:t>
            </a:r>
          </a:p>
          <a:p>
            <a:pPr algn="ctr"/>
            <a:endParaRPr lang="en-IN" b="1" dirty="0">
              <a:solidFill>
                <a:srgbClr val="FFFF00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6706421" y="5445845"/>
            <a:ext cx="2258902" cy="13980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">
              <a:lnSpc>
                <a:spcPct val="150000"/>
              </a:lnSpc>
            </a:pPr>
            <a:r>
              <a:rPr lang="en-US" dirty="0" err="1">
                <a:solidFill>
                  <a:srgbClr val="FFFF00"/>
                </a:solidFill>
              </a:rPr>
              <a:t>HolidayList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9114024" y="5497712"/>
            <a:ext cx="2400368" cy="13980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">
              <a:lnSpc>
                <a:spcPct val="150000"/>
              </a:lnSpc>
            </a:pPr>
            <a:r>
              <a:rPr lang="en-US" dirty="0">
                <a:solidFill>
                  <a:srgbClr val="FFFF00"/>
                </a:solidFill>
              </a:rPr>
              <a:t>Credit / Debit leaves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9981787" y="4084865"/>
            <a:ext cx="2273676" cy="13980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">
              <a:lnSpc>
                <a:spcPct val="150000"/>
              </a:lnSpc>
            </a:pPr>
            <a:r>
              <a:rPr lang="en-US" dirty="0">
                <a:solidFill>
                  <a:srgbClr val="FFFF00"/>
                </a:solidFill>
              </a:rPr>
              <a:t>Branch Category</a:t>
            </a:r>
          </a:p>
          <a:p>
            <a:pPr algn="ctr"/>
            <a:endParaRPr lang="en-IN" b="1" dirty="0">
              <a:solidFill>
                <a:srgbClr val="FFFF00"/>
              </a:solidFill>
            </a:endParaRPr>
          </a:p>
        </p:txBody>
      </p:sp>
      <p:cxnSp>
        <p:nvCxnSpPr>
          <p:cNvPr id="18" name="Straight Arrow Connector 17"/>
          <p:cNvCxnSpPr>
            <a:endCxn id="13" idx="7"/>
          </p:cNvCxnSpPr>
          <p:nvPr/>
        </p:nvCxnSpPr>
        <p:spPr>
          <a:xfrm flipH="1">
            <a:off x="1896177" y="2059052"/>
            <a:ext cx="1239830" cy="204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2549336" y="3279720"/>
            <a:ext cx="560730" cy="204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2174130" y="4704780"/>
            <a:ext cx="1028499" cy="4347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>
            <a:off x="3482863" y="5055882"/>
            <a:ext cx="199768" cy="4320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4699095" y="5017750"/>
            <a:ext cx="399396" cy="4701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7109993" y="5139519"/>
            <a:ext cx="539318" cy="267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9038412" y="3859168"/>
            <a:ext cx="543470" cy="2657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V="1">
            <a:off x="8965323" y="2263793"/>
            <a:ext cx="951346" cy="9169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8942272" y="1342469"/>
            <a:ext cx="116562" cy="199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3029687" y="1400833"/>
            <a:ext cx="368353" cy="66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9916669" y="1238921"/>
            <a:ext cx="2331077" cy="13980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">
              <a:lnSpc>
                <a:spcPct val="150000"/>
              </a:lnSpc>
            </a:pPr>
            <a:r>
              <a:rPr lang="en-US" dirty="0" err="1">
                <a:solidFill>
                  <a:srgbClr val="FFFF00"/>
                </a:solidFill>
              </a:rPr>
              <a:t>BlockPeriod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8724752" y="32348"/>
            <a:ext cx="2026882" cy="13980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">
              <a:lnSpc>
                <a:spcPct val="150000"/>
              </a:lnSpc>
            </a:pPr>
            <a:r>
              <a:rPr lang="en-US" dirty="0" smtClean="0">
                <a:solidFill>
                  <a:srgbClr val="FFFF00"/>
                </a:solidFill>
              </a:rPr>
              <a:t>News</a:t>
            </a:r>
            <a:endParaRPr lang="en-US" dirty="0">
              <a:solidFill>
                <a:srgbClr val="FFFF00"/>
              </a:solidFill>
            </a:endParaRPr>
          </a:p>
        </p:txBody>
      </p:sp>
      <p:cxnSp>
        <p:nvCxnSpPr>
          <p:cNvPr id="45" name="Straight Arrow Connector 44"/>
          <p:cNvCxnSpPr/>
          <p:nvPr/>
        </p:nvCxnSpPr>
        <p:spPr>
          <a:xfrm>
            <a:off x="9019760" y="4570728"/>
            <a:ext cx="896909" cy="1340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endCxn id="16" idx="1"/>
          </p:cNvCxnSpPr>
          <p:nvPr/>
        </p:nvCxnSpPr>
        <p:spPr>
          <a:xfrm>
            <a:off x="8724752" y="4922149"/>
            <a:ext cx="740798" cy="780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963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F510E21-D969-47F1-B374-4FC1D7EE4BE3}"/>
              </a:ext>
            </a:extLst>
          </p:cNvPr>
          <p:cNvSpPr txBox="1">
            <a:spLocks/>
          </p:cNvSpPr>
          <p:nvPr/>
        </p:nvSpPr>
        <p:spPr>
          <a:xfrm>
            <a:off x="399245" y="199696"/>
            <a:ext cx="8899301" cy="70734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600" b="1" dirty="0" smtClean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dirty="0" smtClean="0">
                <a:solidFill>
                  <a:schemeClr val="accent1">
                    <a:lumMod val="75000"/>
                  </a:schemeClr>
                </a:solidFill>
              </a:rPr>
              <a:t>Branches</a:t>
            </a:r>
            <a:endParaRPr lang="en-US" sz="3600" b="1" dirty="0" smtClean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Branch Contacts</a:t>
            </a:r>
            <a:endParaRPr lang="en-US" sz="3600" b="1" dirty="0" smtClean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Cadre</a:t>
            </a: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dirty="0" smtClean="0">
                <a:solidFill>
                  <a:schemeClr val="accent1">
                    <a:lumMod val="75000"/>
                  </a:schemeClr>
                </a:solidFill>
                <a:latin typeface="+mn-lt"/>
              </a:rPr>
              <a:t>Category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CA &amp; SA of Employees</a:t>
            </a: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DOB</a:t>
            </a: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Employees</a:t>
            </a: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Head Office</a:t>
            </a: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Head Office Attenders</a:t>
            </a: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Key Officials</a:t>
            </a: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LTC</a:t>
            </a: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Leaves</a:t>
            </a: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Long Leaves</a:t>
            </a: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Late Applied Leaves</a:t>
            </a: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Leaves Cancelled</a:t>
            </a: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OD</a:t>
            </a:r>
            <a:r>
              <a:rPr lang="en-IN" sz="2200" b="1" dirty="0" smtClean="0">
                <a:solidFill>
                  <a:srgbClr val="970370"/>
                </a:solidFill>
                <a:latin typeface="+mn-lt"/>
              </a:rPr>
              <a:t/>
            </a:r>
            <a:br>
              <a:rPr lang="en-IN" sz="2200" b="1" dirty="0" smtClean="0">
                <a:solidFill>
                  <a:srgbClr val="970370"/>
                </a:solidFill>
                <a:latin typeface="+mn-lt"/>
              </a:rPr>
            </a:br>
            <a:r>
              <a:rPr lang="en-IN" sz="2200" b="1" dirty="0" smtClean="0">
                <a:solidFill>
                  <a:srgbClr val="970370"/>
                </a:solidFill>
                <a:latin typeface="+mn-lt"/>
              </a:rPr>
              <a:t/>
            </a:r>
            <a:br>
              <a:rPr lang="en-IN" sz="2200" b="1" dirty="0" smtClean="0">
                <a:solidFill>
                  <a:srgbClr val="970370"/>
                </a:solidFill>
                <a:latin typeface="+mn-lt"/>
              </a:rPr>
            </a:br>
            <a:r>
              <a:rPr lang="en-IN" sz="2200" b="1" dirty="0" smtClean="0">
                <a:solidFill>
                  <a:srgbClr val="970370"/>
                </a:solidFill>
                <a:latin typeface="+mn-lt"/>
              </a:rPr>
              <a:t/>
            </a:r>
            <a:br>
              <a:rPr lang="en-IN" sz="2200" b="1" dirty="0" smtClean="0">
                <a:solidFill>
                  <a:srgbClr val="970370"/>
                </a:solidFill>
                <a:latin typeface="+mn-lt"/>
              </a:rPr>
            </a:br>
            <a:r>
              <a:rPr lang="en-IN" sz="2200" b="1" dirty="0" smtClean="0">
                <a:solidFill>
                  <a:srgbClr val="970370"/>
                </a:solidFill>
                <a:latin typeface="+mn-lt"/>
              </a:rPr>
              <a:t> </a:t>
            </a:r>
            <a:br>
              <a:rPr lang="en-IN" sz="2200" b="1" dirty="0" smtClean="0">
                <a:solidFill>
                  <a:srgbClr val="970370"/>
                </a:solidFill>
                <a:latin typeface="+mn-lt"/>
              </a:rPr>
            </a:br>
            <a:r>
              <a:rPr lang="en-IN" sz="2200" b="1" dirty="0" smtClean="0">
                <a:solidFill>
                  <a:srgbClr val="970370"/>
                </a:solidFill>
                <a:latin typeface="+mn-lt"/>
              </a:rPr>
              <a:t/>
            </a:r>
            <a:br>
              <a:rPr lang="en-IN" sz="2200" b="1" dirty="0" smtClean="0">
                <a:solidFill>
                  <a:srgbClr val="970370"/>
                </a:solidFill>
                <a:latin typeface="+mn-lt"/>
              </a:rPr>
            </a:br>
            <a:r>
              <a:rPr lang="en-IN" sz="2200" b="1" dirty="0" smtClean="0">
                <a:solidFill>
                  <a:srgbClr val="970370"/>
                </a:solidFill>
                <a:latin typeface="+mn-lt"/>
              </a:rPr>
              <a:t> </a:t>
            </a:r>
            <a:r>
              <a:rPr lang="en-IN" sz="1200" dirty="0" smtClean="0">
                <a:solidFill>
                  <a:srgbClr val="970370"/>
                </a:solidFill>
                <a:latin typeface="+mn-lt"/>
              </a:rPr>
              <a:t/>
            </a:r>
            <a:br>
              <a:rPr lang="en-IN" sz="1200" dirty="0" smtClean="0">
                <a:solidFill>
                  <a:srgbClr val="970370"/>
                </a:solidFill>
                <a:latin typeface="+mn-lt"/>
              </a:rPr>
            </a:br>
            <a:endParaRPr lang="en-IN" sz="1200" dirty="0">
              <a:solidFill>
                <a:srgbClr val="970370"/>
              </a:solidFill>
              <a:latin typeface="+mn-lt"/>
            </a:endParaRPr>
          </a:p>
        </p:txBody>
      </p:sp>
      <p:sp>
        <p:nvSpPr>
          <p:cNvPr id="5" name="矩形 1">
            <a:extLst>
              <a:ext uri="{FF2B5EF4-FFF2-40B4-BE49-F238E27FC236}">
                <a16:creationId xmlns:a16="http://schemas.microsoft.com/office/drawing/2014/main" id="{BD2EF748-6FC5-4760-9A52-3DF946EEEA58}"/>
              </a:ext>
            </a:extLst>
          </p:cNvPr>
          <p:cNvSpPr/>
          <p:nvPr/>
        </p:nvSpPr>
        <p:spPr>
          <a:xfrm>
            <a:off x="651641" y="199697"/>
            <a:ext cx="632796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IN" altLang="zh-CN" sz="4400" b="1" dirty="0" smtClean="0">
                <a:solidFill>
                  <a:schemeClr val="accent1">
                    <a:lumMod val="75000"/>
                  </a:schemeClr>
                </a:solidFill>
              </a:rPr>
              <a:t>Reports List:</a:t>
            </a:r>
            <a:endParaRPr lang="zh-CN" altLang="en-US" sz="4400" b="1" dirty="0">
              <a:ln w="10160">
                <a:solidFill>
                  <a:schemeClr val="accent5"/>
                </a:solidFill>
                <a:prstDash val="solid"/>
              </a:ln>
              <a:solidFill>
                <a:schemeClr val="accent1">
                  <a:lumMod val="75000"/>
                </a:schemeClr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748461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F510E21-D969-47F1-B374-4FC1D7EE4BE3}"/>
              </a:ext>
            </a:extLst>
          </p:cNvPr>
          <p:cNvSpPr txBox="1">
            <a:spLocks/>
          </p:cNvSpPr>
          <p:nvPr/>
        </p:nvSpPr>
        <p:spPr>
          <a:xfrm>
            <a:off x="321973" y="837127"/>
            <a:ext cx="8976574" cy="643603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600" b="1" dirty="0" smtClean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700" b="1" dirty="0">
                <a:solidFill>
                  <a:schemeClr val="accent1">
                    <a:lumMod val="75000"/>
                  </a:schemeClr>
                </a:solidFill>
              </a:rPr>
              <a:t>Permanent Transfers</a:t>
            </a: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700" b="1" dirty="0">
                <a:solidFill>
                  <a:schemeClr val="accent1">
                    <a:lumMod val="75000"/>
                  </a:schemeClr>
                </a:solidFill>
              </a:rPr>
              <a:t>Promotion</a:t>
            </a: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700" b="1" dirty="0" err="1">
                <a:solidFill>
                  <a:schemeClr val="accent1">
                    <a:lumMod val="75000"/>
                  </a:schemeClr>
                </a:solidFill>
              </a:rPr>
              <a:t>Proforma</a:t>
            </a:r>
            <a:r>
              <a:rPr lang="en-US" sz="3700" b="1" dirty="0">
                <a:solidFill>
                  <a:schemeClr val="accent1">
                    <a:lumMod val="75000"/>
                  </a:schemeClr>
                </a:solidFill>
              </a:rPr>
              <a:t>-A (PL Encashment)</a:t>
            </a: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700" b="1" dirty="0">
                <a:solidFill>
                  <a:schemeClr val="accent1">
                    <a:lumMod val="75000"/>
                  </a:schemeClr>
                </a:solidFill>
              </a:rPr>
              <a:t>Retirements/Resignations</a:t>
            </a: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700" b="1" dirty="0">
                <a:solidFill>
                  <a:schemeClr val="accent1">
                    <a:lumMod val="75000"/>
                  </a:schemeClr>
                </a:solidFill>
              </a:rPr>
              <a:t>Seniority</a:t>
            </a: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700" b="1" dirty="0">
                <a:solidFill>
                  <a:schemeClr val="accent1">
                    <a:lumMod val="75000"/>
                  </a:schemeClr>
                </a:solidFill>
              </a:rPr>
              <a:t>Staff Master</a:t>
            </a: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700" b="1" dirty="0">
                <a:solidFill>
                  <a:schemeClr val="accent1">
                    <a:lumMod val="75000"/>
                  </a:schemeClr>
                </a:solidFill>
              </a:rPr>
              <a:t>TX History</a:t>
            </a: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700" b="1" dirty="0">
                <a:solidFill>
                  <a:schemeClr val="accent1">
                    <a:lumMod val="75000"/>
                  </a:schemeClr>
                </a:solidFill>
              </a:rPr>
              <a:t>Temporary Transfers</a:t>
            </a: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700" b="1" dirty="0">
                <a:solidFill>
                  <a:schemeClr val="accent1">
                    <a:lumMod val="75000"/>
                  </a:schemeClr>
                </a:solidFill>
              </a:rPr>
              <a:t>Top Management</a:t>
            </a: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700" b="1" dirty="0" err="1">
                <a:solidFill>
                  <a:schemeClr val="accent1">
                    <a:lumMod val="75000"/>
                  </a:schemeClr>
                </a:solidFill>
              </a:rPr>
              <a:t>WorkDiary</a:t>
            </a:r>
            <a:endParaRPr lang="en-US" sz="37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700" b="1" dirty="0">
                <a:solidFill>
                  <a:schemeClr val="accent1">
                    <a:lumMod val="75000"/>
                  </a:schemeClr>
                </a:solidFill>
              </a:rPr>
              <a:t>Year wise Leave Balance</a:t>
            </a: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700" b="1" dirty="0">
                <a:solidFill>
                  <a:schemeClr val="accent1">
                    <a:lumMod val="75000"/>
                  </a:schemeClr>
                </a:solidFill>
              </a:rPr>
              <a:t>Branch Device Report</a:t>
            </a: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700" b="1" dirty="0">
                <a:solidFill>
                  <a:schemeClr val="accent1">
                    <a:lumMod val="75000"/>
                  </a:schemeClr>
                </a:solidFill>
              </a:rPr>
              <a:t>Allotment of Shifts</a:t>
            </a: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b="1" dirty="0" smtClean="0">
                <a:solidFill>
                  <a:srgbClr val="970370"/>
                </a:solidFill>
                <a:latin typeface="+mn-lt"/>
              </a:rPr>
              <a:t/>
            </a:r>
            <a:br>
              <a:rPr lang="en-IN" sz="2200" b="1" dirty="0" smtClean="0">
                <a:solidFill>
                  <a:srgbClr val="970370"/>
                </a:solidFill>
                <a:latin typeface="+mn-lt"/>
              </a:rPr>
            </a:br>
            <a:r>
              <a:rPr lang="en-IN" sz="2200" b="1" dirty="0" smtClean="0">
                <a:solidFill>
                  <a:srgbClr val="970370"/>
                </a:solidFill>
                <a:latin typeface="+mn-lt"/>
              </a:rPr>
              <a:t/>
            </a:r>
            <a:br>
              <a:rPr lang="en-IN" sz="2200" b="1" dirty="0" smtClean="0">
                <a:solidFill>
                  <a:srgbClr val="970370"/>
                </a:solidFill>
                <a:latin typeface="+mn-lt"/>
              </a:rPr>
            </a:br>
            <a:r>
              <a:rPr lang="en-IN" sz="2200" b="1" dirty="0" smtClean="0">
                <a:solidFill>
                  <a:srgbClr val="970370"/>
                </a:solidFill>
                <a:latin typeface="+mn-lt"/>
              </a:rPr>
              <a:t/>
            </a:r>
            <a:br>
              <a:rPr lang="en-IN" sz="2200" b="1" dirty="0" smtClean="0">
                <a:solidFill>
                  <a:srgbClr val="970370"/>
                </a:solidFill>
                <a:latin typeface="+mn-lt"/>
              </a:rPr>
            </a:br>
            <a:r>
              <a:rPr lang="en-IN" sz="2200" b="1" dirty="0" smtClean="0">
                <a:solidFill>
                  <a:srgbClr val="970370"/>
                </a:solidFill>
                <a:latin typeface="+mn-lt"/>
              </a:rPr>
              <a:t> </a:t>
            </a:r>
            <a:br>
              <a:rPr lang="en-IN" sz="2200" b="1" dirty="0" smtClean="0">
                <a:solidFill>
                  <a:srgbClr val="970370"/>
                </a:solidFill>
                <a:latin typeface="+mn-lt"/>
              </a:rPr>
            </a:br>
            <a:r>
              <a:rPr lang="en-IN" sz="2200" b="1" dirty="0" smtClean="0">
                <a:solidFill>
                  <a:srgbClr val="970370"/>
                </a:solidFill>
                <a:latin typeface="+mn-lt"/>
              </a:rPr>
              <a:t/>
            </a:r>
            <a:br>
              <a:rPr lang="en-IN" sz="2200" b="1" dirty="0" smtClean="0">
                <a:solidFill>
                  <a:srgbClr val="970370"/>
                </a:solidFill>
                <a:latin typeface="+mn-lt"/>
              </a:rPr>
            </a:br>
            <a:r>
              <a:rPr lang="en-IN" sz="2200" b="1" dirty="0" smtClean="0">
                <a:solidFill>
                  <a:srgbClr val="970370"/>
                </a:solidFill>
                <a:latin typeface="+mn-lt"/>
              </a:rPr>
              <a:t> </a:t>
            </a:r>
            <a:r>
              <a:rPr lang="en-IN" sz="1200" dirty="0" smtClean="0">
                <a:solidFill>
                  <a:srgbClr val="970370"/>
                </a:solidFill>
                <a:latin typeface="+mn-lt"/>
              </a:rPr>
              <a:t/>
            </a:r>
            <a:br>
              <a:rPr lang="en-IN" sz="1200" dirty="0" smtClean="0">
                <a:solidFill>
                  <a:srgbClr val="970370"/>
                </a:solidFill>
                <a:latin typeface="+mn-lt"/>
              </a:rPr>
            </a:br>
            <a:endParaRPr lang="en-IN" sz="1200" dirty="0">
              <a:solidFill>
                <a:srgbClr val="970370"/>
              </a:solidFill>
              <a:latin typeface="+mn-lt"/>
            </a:endParaRPr>
          </a:p>
        </p:txBody>
      </p:sp>
      <p:sp>
        <p:nvSpPr>
          <p:cNvPr id="5" name="矩形 1">
            <a:extLst>
              <a:ext uri="{FF2B5EF4-FFF2-40B4-BE49-F238E27FC236}">
                <a16:creationId xmlns:a16="http://schemas.microsoft.com/office/drawing/2014/main" id="{BD2EF748-6FC5-4760-9A52-3DF946EEEA58}"/>
              </a:ext>
            </a:extLst>
          </p:cNvPr>
          <p:cNvSpPr/>
          <p:nvPr/>
        </p:nvSpPr>
        <p:spPr>
          <a:xfrm>
            <a:off x="651641" y="199697"/>
            <a:ext cx="632796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IN" altLang="zh-CN" sz="4400" b="1" dirty="0" smtClean="0">
                <a:solidFill>
                  <a:schemeClr val="accent1">
                    <a:lumMod val="75000"/>
                  </a:schemeClr>
                </a:solidFill>
              </a:rPr>
              <a:t>Reports List:</a:t>
            </a:r>
            <a:endParaRPr lang="zh-CN" altLang="en-US" sz="4400" b="1" dirty="0">
              <a:ln w="10160">
                <a:solidFill>
                  <a:schemeClr val="accent5"/>
                </a:solidFill>
                <a:prstDash val="solid"/>
              </a:ln>
              <a:solidFill>
                <a:schemeClr val="accent1">
                  <a:lumMod val="75000"/>
                </a:schemeClr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64884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F510E21-D969-47F1-B374-4FC1D7EE4BE3}"/>
              </a:ext>
            </a:extLst>
          </p:cNvPr>
          <p:cNvSpPr txBox="1">
            <a:spLocks/>
          </p:cNvSpPr>
          <p:nvPr/>
        </p:nvSpPr>
        <p:spPr>
          <a:xfrm>
            <a:off x="399245" y="199696"/>
            <a:ext cx="8899301" cy="70734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600" b="1" dirty="0" smtClean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b="1" dirty="0">
                <a:solidFill>
                  <a:schemeClr val="accent1">
                    <a:lumMod val="75000"/>
                  </a:schemeClr>
                </a:solidFill>
              </a:rPr>
              <a:t>Late Arrivals</a:t>
            </a: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b="1" dirty="0">
                <a:solidFill>
                  <a:schemeClr val="accent1">
                    <a:lumMod val="75000"/>
                  </a:schemeClr>
                </a:solidFill>
              </a:rPr>
              <a:t>Early Departs</a:t>
            </a: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b="1" dirty="0">
                <a:solidFill>
                  <a:schemeClr val="accent1">
                    <a:lumMod val="75000"/>
                  </a:schemeClr>
                </a:solidFill>
              </a:rPr>
              <a:t>Employee Timesheet</a:t>
            </a: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b="1" dirty="0">
                <a:solidFill>
                  <a:schemeClr val="accent1">
                    <a:lumMod val="75000"/>
                  </a:schemeClr>
                </a:solidFill>
              </a:rPr>
              <a:t>Late Arrivals/Early Departures Monthly</a:t>
            </a: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b="1" dirty="0">
                <a:solidFill>
                  <a:schemeClr val="accent1">
                    <a:lumMod val="75000"/>
                  </a:schemeClr>
                </a:solidFill>
              </a:rPr>
              <a:t>Late </a:t>
            </a:r>
            <a:r>
              <a:rPr lang="en-US" sz="2700" b="1">
                <a:solidFill>
                  <a:schemeClr val="accent1">
                    <a:lumMod val="75000"/>
                  </a:schemeClr>
                </a:solidFill>
              </a:rPr>
              <a:t>Memo </a:t>
            </a:r>
            <a:r>
              <a:rPr lang="en-US" sz="2700" b="1" smtClean="0">
                <a:solidFill>
                  <a:schemeClr val="accent1">
                    <a:lumMod val="75000"/>
                  </a:schemeClr>
                </a:solidFill>
              </a:rPr>
              <a:t>Monthly </a:t>
            </a:r>
            <a:endParaRPr lang="en-US" sz="27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b="1" dirty="0">
                <a:solidFill>
                  <a:schemeClr val="accent1">
                    <a:lumMod val="75000"/>
                  </a:schemeClr>
                </a:solidFill>
              </a:rPr>
              <a:t>Leaves applied/approved but attended duties</a:t>
            </a: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b="1" dirty="0" err="1">
                <a:solidFill>
                  <a:schemeClr val="accent1">
                    <a:lumMod val="75000"/>
                  </a:schemeClr>
                </a:solidFill>
              </a:rPr>
              <a:t>TimeSheet</a:t>
            </a:r>
            <a:r>
              <a:rPr lang="en-US" sz="2700" b="1" dirty="0">
                <a:solidFill>
                  <a:schemeClr val="accent1">
                    <a:lumMod val="75000"/>
                  </a:schemeClr>
                </a:solidFill>
              </a:rPr>
              <a:t> Manual Form</a:t>
            </a: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b="1" dirty="0" err="1">
                <a:solidFill>
                  <a:schemeClr val="accent1">
                    <a:lumMod val="75000"/>
                  </a:schemeClr>
                </a:solidFill>
              </a:rPr>
              <a:t>TimeSheet</a:t>
            </a:r>
            <a:r>
              <a:rPr lang="en-US" sz="2700" b="1" dirty="0">
                <a:solidFill>
                  <a:schemeClr val="accent1">
                    <a:lumMod val="75000"/>
                  </a:schemeClr>
                </a:solidFill>
              </a:rPr>
              <a:t> Rerun</a:t>
            </a: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b="1" dirty="0">
                <a:solidFill>
                  <a:schemeClr val="accent1">
                    <a:lumMod val="75000"/>
                  </a:schemeClr>
                </a:solidFill>
              </a:rPr>
              <a:t>DCCB Employee Timesheet</a:t>
            </a: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b="1" dirty="0">
                <a:solidFill>
                  <a:schemeClr val="accent1">
                    <a:lumMod val="75000"/>
                  </a:schemeClr>
                </a:solidFill>
              </a:rPr>
              <a:t>COVID-19 Survey</a:t>
            </a:r>
          </a:p>
          <a:p>
            <a:pPr marL="342900" indent="-342900" algn="l" fontAlgn="b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b="1" dirty="0">
                <a:solidFill>
                  <a:schemeClr val="accent1">
                    <a:lumMod val="75000"/>
                  </a:schemeClr>
                </a:solidFill>
              </a:rPr>
              <a:t>COVID-19 Submitted Employee Count</a:t>
            </a:r>
            <a:r>
              <a:rPr lang="en-IN" sz="2200" b="1" dirty="0" smtClean="0">
                <a:solidFill>
                  <a:srgbClr val="970370"/>
                </a:solidFill>
                <a:latin typeface="+mn-lt"/>
              </a:rPr>
              <a:t/>
            </a:r>
            <a:br>
              <a:rPr lang="en-IN" sz="2200" b="1" dirty="0" smtClean="0">
                <a:solidFill>
                  <a:srgbClr val="970370"/>
                </a:solidFill>
                <a:latin typeface="+mn-lt"/>
              </a:rPr>
            </a:br>
            <a:r>
              <a:rPr lang="en-IN" sz="2200" b="1" dirty="0" smtClean="0">
                <a:solidFill>
                  <a:srgbClr val="970370"/>
                </a:solidFill>
                <a:latin typeface="+mn-lt"/>
              </a:rPr>
              <a:t/>
            </a:r>
            <a:br>
              <a:rPr lang="en-IN" sz="2200" b="1" dirty="0" smtClean="0">
                <a:solidFill>
                  <a:srgbClr val="970370"/>
                </a:solidFill>
                <a:latin typeface="+mn-lt"/>
              </a:rPr>
            </a:br>
            <a:r>
              <a:rPr lang="en-IN" sz="2200" b="1" dirty="0" smtClean="0">
                <a:solidFill>
                  <a:srgbClr val="970370"/>
                </a:solidFill>
                <a:latin typeface="+mn-lt"/>
              </a:rPr>
              <a:t/>
            </a:r>
            <a:br>
              <a:rPr lang="en-IN" sz="2200" b="1" dirty="0" smtClean="0">
                <a:solidFill>
                  <a:srgbClr val="970370"/>
                </a:solidFill>
                <a:latin typeface="+mn-lt"/>
              </a:rPr>
            </a:br>
            <a:r>
              <a:rPr lang="en-IN" sz="2200" b="1" dirty="0" smtClean="0">
                <a:solidFill>
                  <a:srgbClr val="970370"/>
                </a:solidFill>
                <a:latin typeface="+mn-lt"/>
              </a:rPr>
              <a:t> </a:t>
            </a:r>
            <a:br>
              <a:rPr lang="en-IN" sz="2200" b="1" dirty="0" smtClean="0">
                <a:solidFill>
                  <a:srgbClr val="970370"/>
                </a:solidFill>
                <a:latin typeface="+mn-lt"/>
              </a:rPr>
            </a:br>
            <a:r>
              <a:rPr lang="en-IN" sz="2200" b="1" dirty="0" smtClean="0">
                <a:solidFill>
                  <a:srgbClr val="970370"/>
                </a:solidFill>
                <a:latin typeface="+mn-lt"/>
              </a:rPr>
              <a:t/>
            </a:r>
            <a:br>
              <a:rPr lang="en-IN" sz="2200" b="1" dirty="0" smtClean="0">
                <a:solidFill>
                  <a:srgbClr val="970370"/>
                </a:solidFill>
                <a:latin typeface="+mn-lt"/>
              </a:rPr>
            </a:br>
            <a:r>
              <a:rPr lang="en-IN" sz="2200" b="1" dirty="0" smtClean="0">
                <a:solidFill>
                  <a:srgbClr val="970370"/>
                </a:solidFill>
                <a:latin typeface="+mn-lt"/>
              </a:rPr>
              <a:t> </a:t>
            </a:r>
            <a:r>
              <a:rPr lang="en-IN" sz="1200" dirty="0" smtClean="0">
                <a:solidFill>
                  <a:srgbClr val="970370"/>
                </a:solidFill>
                <a:latin typeface="+mn-lt"/>
              </a:rPr>
              <a:t/>
            </a:r>
            <a:br>
              <a:rPr lang="en-IN" sz="1200" dirty="0" smtClean="0">
                <a:solidFill>
                  <a:srgbClr val="970370"/>
                </a:solidFill>
                <a:latin typeface="+mn-lt"/>
              </a:rPr>
            </a:br>
            <a:endParaRPr lang="en-IN" sz="1200" dirty="0">
              <a:solidFill>
                <a:srgbClr val="970370"/>
              </a:solidFill>
              <a:latin typeface="+mn-lt"/>
            </a:endParaRPr>
          </a:p>
        </p:txBody>
      </p:sp>
      <p:sp>
        <p:nvSpPr>
          <p:cNvPr id="5" name="矩形 1">
            <a:extLst>
              <a:ext uri="{FF2B5EF4-FFF2-40B4-BE49-F238E27FC236}">
                <a16:creationId xmlns:a16="http://schemas.microsoft.com/office/drawing/2014/main" id="{BD2EF748-6FC5-4760-9A52-3DF946EEEA58}"/>
              </a:ext>
            </a:extLst>
          </p:cNvPr>
          <p:cNvSpPr/>
          <p:nvPr/>
        </p:nvSpPr>
        <p:spPr>
          <a:xfrm>
            <a:off x="651641" y="199697"/>
            <a:ext cx="632796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IN" altLang="zh-CN" sz="4400" b="1" dirty="0" smtClean="0">
                <a:solidFill>
                  <a:schemeClr val="accent1">
                    <a:lumMod val="75000"/>
                  </a:schemeClr>
                </a:solidFill>
              </a:rPr>
              <a:t>Reports List:</a:t>
            </a:r>
            <a:endParaRPr lang="zh-CN" altLang="en-US" sz="4400" b="1" dirty="0">
              <a:ln w="10160">
                <a:solidFill>
                  <a:schemeClr val="accent5"/>
                </a:solidFill>
                <a:prstDash val="solid"/>
              </a:ln>
              <a:solidFill>
                <a:schemeClr val="accent1">
                  <a:lumMod val="75000"/>
                </a:schemeClr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470701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910625" y="2046599"/>
            <a:ext cx="5808372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8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97037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Thank You</a:t>
            </a:r>
            <a:endParaRPr lang="zh-CN" altLang="en-US" sz="88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97037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45236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22234</TotalTime>
  <Words>344</Words>
  <Application>Microsoft Office PowerPoint</Application>
  <PresentationFormat>Widescreen</PresentationFormat>
  <Paragraphs>184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等线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Python</dc:title>
  <dc:creator>Suresh Kavili</dc:creator>
  <cp:lastModifiedBy>Haree Bollu</cp:lastModifiedBy>
  <cp:revision>229</cp:revision>
  <dcterms:created xsi:type="dcterms:W3CDTF">2019-10-23T12:54:32Z</dcterms:created>
  <dcterms:modified xsi:type="dcterms:W3CDTF">2021-08-11T11:59:36Z</dcterms:modified>
</cp:coreProperties>
</file>